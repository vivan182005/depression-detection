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8e6afd2-ebea-5298-a332-c4e33d838afc}">
          <p14:sldIdLst>
            <p14:sldId id="256"/>
            <p14:sldId id="257"/>
          </p14:sldIdLst>
        </p14:section>
        <p14:section name="Progress: three models" id="{df62bbe9-76ad-d250-0c54-da3f7f731a4f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Results" id="{04094e41-e24f-f90e-9b6f-fe1cb0b283f0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The final model in depth" id="{61c7c326-6ea1-585f-f3b2-a2de92230cb2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onclusion" id="{6e0b6c4f-3b19-b647-4fe3-8ea8843589cd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model must beat 68.8% to be useful, because 69% of people are not depressed.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Cross-validated accuracy. The big jump comes from Model 3, the LLM symptom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1 was our honest, fully nested model: it re-selects which voice layers to use inside every training 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from Model 2: the limit was the information in the features, not the learning method. We needed a new kind of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A 79.1% and Test B 78.8% agree within 0.3 points. With 33 people, one person is 3 percentage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0-1 rank: each raw prediction is converted to its position among the training predictions, so the three parts are on the same scale before combining.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is an illustration of the method. Zero-shot: Mistral was never trained or tuned on our data and never sees a PHQ-8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were chosen on out-of-fold training scores, never on test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Depression detection capstone | progress and final model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Detecting Depression from Interview Speech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How the model improved over three versions, the results, and how the final model works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Final: 79.1% accuracy (cross-validation), 78.8% on 33 unseen people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task: screen for depression from one interview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of a 7-20 minute clinical interview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PHQ-8 &gt;= 10 (clinically depressed)? yes / no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DAIC-WOZ + E-DAIC (USC), the standard research benchmark</a:t>
            </a:r>
            <a:endParaRPr lang="en-US" sz="1800" dirty="0"/>
          </a:p>
        </p:txBody>
      </p:sp>
      <p:sp>
        <p:nvSpPr>
          <p:cNvPr id="4" name="stat0"/>
          <p:cNvSpPr/>
          <p:nvPr/>
        </p:nvSpPr>
        <p:spPr>
          <a:xfrm>
            <a:off x="548640" y="29260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32461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interviewed</a:t>
            </a:r>
            <a:endParaRPr lang="en-US" sz="1600" dirty="0"/>
          </a:p>
        </p:txBody>
      </p:sp>
      <p:sp>
        <p:nvSpPr>
          <p:cNvPr id="7" name="stat1"/>
          <p:cNvSpPr/>
          <p:nvPr/>
        </p:nvSpPr>
        <p:spPr>
          <a:xfrm>
            <a:off x="4343400" y="29260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32461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4572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depressed (31%)</a:t>
            </a:r>
            <a:endParaRPr lang="en-US" sz="1600" dirty="0"/>
          </a:p>
        </p:txBody>
      </p:sp>
      <p:sp>
        <p:nvSpPr>
          <p:cNvPr id="10" name="stat2"/>
          <p:cNvSpPr/>
          <p:nvPr/>
        </p:nvSpPr>
        <p:spPr>
          <a:xfrm>
            <a:off x="8138160" y="29260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0" y="32461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68.8%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45720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always guessing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depressed" (the baseline)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 1: our progress in three models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Model 1 (Phase 7) -&gt; Model 2 (Phase 8) -&gt; Model 3 (Phase 9, final)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Progress at a glance</a:t>
            </a:r>
            <a:endParaRPr lang="en-US" sz="3200" dirty="0"/>
          </a:p>
        </p:txBody>
      </p:sp>
      <p:pic>
        <p:nvPicPr>
          <p:cNvPr id="3" name="Image 0" descr="Accuracy of model 1, 2 and 3: 74.3, 75.2, 79.1 perc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64240" cy="2743200"/>
          </a:xfrm>
          <a:prstGeom prst="rect">
            <a:avLst/>
          </a:prstGeom>
        </p:spPr>
      </p:pic>
      <p:sp>
        <p:nvSpPr>
          <p:cNvPr id="4" name="pg0"/>
          <p:cNvSpPr/>
          <p:nvPr/>
        </p:nvSpPr>
        <p:spPr>
          <a:xfrm>
            <a:off x="548640" y="4160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4343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8006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text. Picks its best voice settings again in every training round.</a:t>
            </a:r>
            <a:endParaRPr lang="en-US" sz="1400" dirty="0"/>
          </a:p>
        </p:txBody>
      </p:sp>
      <p:sp>
        <p:nvSpPr>
          <p:cNvPr id="7" name="pg1"/>
          <p:cNvSpPr/>
          <p:nvPr/>
        </p:nvSpPr>
        <p:spPr>
          <a:xfrm>
            <a:off x="4343400" y="4160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0" y="4343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48006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the 3 voice settings are fixed. 12 extra learning tricks tested: none helped.</a:t>
            </a:r>
            <a:endParaRPr lang="en-US" sz="1400" dirty="0"/>
          </a:p>
        </p:txBody>
      </p:sp>
      <p:sp>
        <p:nvSpPr>
          <p:cNvPr id="10" name="pg2"/>
          <p:cNvSpPr/>
          <p:nvPr/>
        </p:nvSpPr>
        <p:spPr>
          <a:xfrm>
            <a:off x="8138160" y="4160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366760" y="4343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 (final)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48006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+ a local LLM that reads the transcript and rates the 8 PHQ-8 symptoms.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 1 (Phase 7): voice + text, 74.3%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400" dirty="0"/>
          </a:p>
        </p:txBody>
      </p:sp>
      <p:sp>
        <p:nvSpPr>
          <p:cNvPr id="5" name="Audio"/>
          <p:cNvSpPr/>
          <p:nvPr/>
        </p:nvSpPr>
        <p:spPr>
          <a:xfrm>
            <a:off x="548640" y="187452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" y="1984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parts found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Silero VAD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23744" y="253288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9" name="Voice features"/>
          <p:cNvSpPr/>
          <p:nvPr/>
        </p:nvSpPr>
        <p:spPr>
          <a:xfrm>
            <a:off x="2825496" y="187452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35224" y="1984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features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wav2vec2, HuBERT,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Whisper: 15 layers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53288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13" name="Pick best 3"/>
          <p:cNvSpPr/>
          <p:nvPr/>
        </p:nvSpPr>
        <p:spPr>
          <a:xfrm>
            <a:off x="5102352" y="187452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12080" y="1984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best 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60 voice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re-chosen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round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77456" y="253288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17" name="Text"/>
          <p:cNvSpPr/>
          <p:nvPr/>
        </p:nvSpPr>
        <p:spPr>
          <a:xfrm>
            <a:off x="7379208" y="187452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88936" y="1984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88936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-&gt;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emotion-RoBERTa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BERT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54312" y="253288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21" name="Combine"/>
          <p:cNvSpPr/>
          <p:nvPr/>
        </p:nvSpPr>
        <p:spPr>
          <a:xfrm>
            <a:off x="9656064" y="187452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765792" y="1984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765792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24" name="m1res"/>
          <p:cNvSpPr/>
          <p:nvPr/>
        </p:nvSpPr>
        <p:spPr>
          <a:xfrm>
            <a:off x="548640" y="35204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7724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160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74.3% (baseline 68.8%)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0.764, balanced accuracy 67.0%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64% of depressed people (balanced threshold)</a:t>
            </a:r>
            <a:endParaRPr lang="en-US" sz="1600" dirty="0"/>
          </a:p>
        </p:txBody>
      </p:sp>
      <p:sp>
        <p:nvSpPr>
          <p:cNvPr id="27" name="m1lim"/>
          <p:cNvSpPr/>
          <p:nvPr/>
        </p:nvSpPr>
        <p:spPr>
          <a:xfrm>
            <a:off x="6217920" y="35204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4652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held it back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160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alone carries a weak signal (AUC ~0.72)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model only captures emotional tone, not symptoms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among 60 settings each round adds noise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 2 (Phase 8): fixed voice settings, 75.2%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the same 3 voice settings: wav2vec2 layer 6 and HuBERT layers 19 and 20, each with ridge regression.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tested 12 learning tricks (teacher's ideas included)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augmentation, mixup, class weights, few-shot (prototypical network), one-shot (kNN, prototypes), speaker referencing, domain centring, statistics pooling.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75.2% accuracy, AUC 0.785. None of the tricks helped.</a:t>
            </a:r>
            <a:endParaRPr lang="en-US" sz="1500" dirty="0"/>
          </a:p>
        </p:txBody>
      </p:sp>
      <p:pic>
        <p:nvPicPr>
          <p:cNvPr id="6" name="Image 0" descr="AUC of 12 learning tricks compared with plain rid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34440"/>
            <a:ext cx="5577840" cy="45319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 3 (Phase 9, final): + LLM symptom scores, 79.1%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400" dirty="0"/>
          </a:p>
        </p:txBody>
      </p:sp>
      <p:sp>
        <p:nvSpPr>
          <p:cNvPr id="5" name="m3why"/>
          <p:cNvSpPr/>
          <p:nvPr/>
        </p:nvSpPr>
        <p:spPr>
          <a:xfrm>
            <a:off x="548640" y="182880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added 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showed new tricks do not help: we needed new information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literature review ranked "LLM scores PHQ-8 items from the transcript" as the most promising next step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mention symptoms ("I can't sleep", "always tired"); the old text model ignored this</a:t>
            </a:r>
            <a:endParaRPr lang="en-US" sz="1500" dirty="0"/>
          </a:p>
        </p:txBody>
      </p:sp>
      <p:sp>
        <p:nvSpPr>
          <p:cNvPr id="8" name="m3what"/>
          <p:cNvSpPr/>
          <p:nvPr/>
        </p:nvSpPr>
        <p:spPr>
          <a:xfrm>
            <a:off x="6217920" y="182880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5146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reads the transcript and rates each of the 8 PHQ-8 symptoms (0-3)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says HOW they speak; LLM says WHAT they report: the two add up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79.1%, AUC 0.843 (+0.057 over Model 2, statistically significant)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is inside each model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1 (Phase 7)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2 (Phase 8)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3 (FINAL)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3 of 60 settings,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re-picked each round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fixed: wav2vec2 L6,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HuBERT L19 + L20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Model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emotion-RoBERTa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emotion-RoBERTa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emotion-RoBERTa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 scores (LLM)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Mistral-7B,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PHQ-8 items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cross-validation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33 unseen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ingredient is new in Model 3, so the gain comes from the LLM symptom scores.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 2: results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Test A: cross-validation on all 272 people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Test B: train on 239, test once on 33 unseen people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honest tests, no data leakage</a:t>
            </a:r>
            <a:endParaRPr lang="en-US" sz="3200" dirty="0"/>
          </a:p>
        </p:txBody>
      </p:sp>
      <p:sp>
        <p:nvSpPr>
          <p:cNvPr id="3" name="test0"/>
          <p:cNvSpPr/>
          <p:nvPr/>
        </p:nvSpPr>
        <p:spPr>
          <a:xfrm>
            <a:off x="548640" y="137160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A: cross-validation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272 people. Train on 4/5, test on the other 1/5, rotate until everyone is tested; repeat with 5 different splits.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is predicted by a model that never saw them.</a:t>
            </a:r>
            <a:endParaRPr lang="en-US" sz="1500" dirty="0"/>
          </a:p>
        </p:txBody>
      </p:sp>
      <p:sp>
        <p:nvSpPr>
          <p:cNvPr id="8" name="test1"/>
          <p:cNvSpPr/>
          <p:nvPr/>
        </p:nvSpPr>
        <p:spPr>
          <a:xfrm>
            <a:off x="6217920" y="137160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B: unseen holdout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231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 on 239 people. Test once on 33 people kept aside in the "unseen" folder.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settings (strengths, combiner, threshold) chosen on the 239 only.</a:t>
            </a:r>
            <a:endParaRPr lang="en-US" sz="1500" dirty="0"/>
          </a:p>
        </p:txBody>
      </p:sp>
      <p:sp>
        <p:nvSpPr>
          <p:cNvPr id="13" name="rules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we kept: </a:t>
            </a:r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appears in both training and test; the LLM never sees a label; interviewer questions removed from transcripts; plan and adoption rule written and pushed to GitHub before running.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A: accuracy rises from 74.3% to 79.1%</a:t>
            </a:r>
            <a:endParaRPr lang="en-US" sz="3200" dirty="0"/>
          </a:p>
        </p:txBody>
      </p:sp>
      <p:pic>
        <p:nvPicPr>
          <p:cNvPr id="3" name="Image 0" descr="Accuracy of baseline and three models under cross-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846320"/>
          </a:xfrm>
          <a:prstGeom prst="rect">
            <a:avLst/>
          </a:prstGeom>
        </p:spPr>
      </p:pic>
      <p:sp>
        <p:nvSpPr>
          <p:cNvPr id="4" name="kpi0.843"/>
          <p:cNvSpPr/>
          <p:nvPr/>
        </p:nvSpPr>
        <p:spPr>
          <a:xfrm>
            <a:off x="7863840" y="13716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92440" y="14813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0.843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148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(Model 1: 0.764)</a:t>
            </a:r>
            <a:endParaRPr lang="en-US" sz="1300" dirty="0"/>
          </a:p>
        </p:txBody>
      </p:sp>
      <p:sp>
        <p:nvSpPr>
          <p:cNvPr id="7" name="kpi72.4%"/>
          <p:cNvSpPr/>
          <p:nvPr/>
        </p:nvSpPr>
        <p:spPr>
          <a:xfrm>
            <a:off x="7863840" y="29718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92440" y="30815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72.4%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749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(Model 1: 67.0%)</a:t>
            </a:r>
            <a:endParaRPr lang="en-US" sz="1300" dirty="0"/>
          </a:p>
        </p:txBody>
      </p:sp>
      <p:sp>
        <p:nvSpPr>
          <p:cNvPr id="10" name="kpi77%"/>
          <p:cNvSpPr/>
          <p:nvPr/>
        </p:nvSpPr>
        <p:spPr>
          <a:xfrm>
            <a:off x="7863840" y="45720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92440" y="46817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depressed people caught at the balanced threshold (Model 1: 64%)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Result B: 26 of 33 unseen people correct</a:t>
            </a:r>
            <a:endParaRPr lang="en-US" sz="3200" dirty="0"/>
          </a:p>
        </p:txBody>
      </p:sp>
      <p:pic>
        <p:nvPicPr>
          <p:cNvPr id="3" name="Image 0" descr="Accuracy of baseline and three models on 33 unseen peo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949440" cy="4846320"/>
          </a:xfrm>
          <a:prstGeom prst="rect">
            <a:avLst/>
          </a:prstGeom>
        </p:spPr>
      </p:pic>
      <p:sp>
        <p:nvSpPr>
          <p:cNvPr id="4" name="kpi0.868"/>
          <p:cNvSpPr/>
          <p:nvPr/>
        </p:nvSpPr>
        <p:spPr>
          <a:xfrm>
            <a:off x="7863840" y="13716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092440" y="14813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0.868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148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(Model 1: 0.777)</a:t>
            </a:r>
            <a:endParaRPr lang="en-US" sz="1300" dirty="0"/>
          </a:p>
        </p:txBody>
      </p:sp>
      <p:sp>
        <p:nvSpPr>
          <p:cNvPr id="7" name="kpi21 / 22"/>
          <p:cNvSpPr/>
          <p:nvPr/>
        </p:nvSpPr>
        <p:spPr>
          <a:xfrm>
            <a:off x="7863840" y="29718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92440" y="30815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749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people correctly cleared</a:t>
            </a:r>
            <a:endParaRPr lang="en-US" sz="1300" dirty="0"/>
          </a:p>
        </p:txBody>
      </p:sp>
      <p:sp>
        <p:nvSpPr>
          <p:cNvPr id="10" name="kpi9 / 11"/>
          <p:cNvSpPr/>
          <p:nvPr/>
        </p:nvSpPr>
        <p:spPr>
          <a:xfrm>
            <a:off x="7863840" y="45720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92440" y="46817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11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depressed caught at the balanced threshold (Model 1: 7)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All results side by side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560320"/>
                <a:gridCol w="2560320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3 (FINAL)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</a:tr>
              <a:tr h="438912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A: cross-validation, 272 people (baseline 68.8%)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 / macro-F1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 / 0.68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 / 0.69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 / 0.74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B: train 239, test 33 unseen (baseline 66.7%)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 (24/33)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 (24/33)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 (26/33)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Depressed caught (balanced thr.)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vs Model 1: AUC +0.079 [95% CI +0.035, +0.124]. Model 3 vs Model 2: +0.057 [+0.015, +0.102]. Both significant.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Screenshot: the results as printed</a:t>
            </a:r>
            <a:endParaRPr lang="en-US" sz="3200" dirty="0"/>
          </a:p>
        </p:txBody>
      </p:sp>
      <p:pic>
        <p:nvPicPr>
          <p:cNvPr id="3" name="Image 0" descr="Terminal output of the cross-validation and holdout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589520" cy="40668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1371600"/>
            <a:ext cx="3108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block: </a:t>
            </a:r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A, cross-validation on 272.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block: </a:t>
            </a:r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B, trained on 239, tested on 33 unseen.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= Model 1, R0 = Model 2, F1 = Model 3 (orange).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= accuracy, bal-acc = balanced accuracy, sens = depressed caught, spec = healthy cleared.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 3: the final model, step by step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Step 1 voice  |  Step 2 text  |  Step 3 LLM symptom scores  |  Step 4 combine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final model: four steps</a:t>
            </a:r>
            <a:endParaRPr lang="en-US" sz="3200" dirty="0"/>
          </a:p>
        </p:txBody>
      </p:sp>
      <p:sp>
        <p:nvSpPr>
          <p:cNvPr id="3" name="Interview audio"/>
          <p:cNvSpPr/>
          <p:nvPr/>
        </p:nvSpPr>
        <p:spPr>
          <a:xfrm>
            <a:off x="457200" y="2651760"/>
            <a:ext cx="1828800" cy="1280160"/>
          </a:xfrm>
          <a:prstGeom prst="roundRect">
            <a:avLst>
              <a:gd name="adj" fmla="val 8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66928" y="276148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audio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5468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only</a:t>
            </a:r>
            <a:endParaRPr lang="en-US" sz="1300" dirty="0"/>
          </a:p>
        </p:txBody>
      </p:sp>
      <p:sp>
        <p:nvSpPr>
          <p:cNvPr id="6" name="Step 1. Voice: how they speak"/>
          <p:cNvSpPr/>
          <p:nvPr/>
        </p:nvSpPr>
        <p:spPr>
          <a:xfrm>
            <a:off x="2926080" y="132588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035808" y="1435608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 Voice: how they speak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035808" y="1828800"/>
            <a:ext cx="5175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 + HuBERT (frozen) -&gt; ridge</a:t>
            </a:r>
            <a:endParaRPr lang="en-US" sz="1300" dirty="0"/>
          </a:p>
        </p:txBody>
      </p:sp>
      <p:sp>
        <p:nvSpPr>
          <p:cNvPr id="9" name="Transcript"/>
          <p:cNvSpPr/>
          <p:nvPr/>
        </p:nvSpPr>
        <p:spPr>
          <a:xfrm>
            <a:off x="2926080" y="3291840"/>
            <a:ext cx="2377440" cy="1280160"/>
          </a:xfrm>
          <a:prstGeom prst="roundRect">
            <a:avLst>
              <a:gd name="adj" fmla="val 8571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35808" y="340156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379476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speech-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to-text</a:t>
            </a:r>
            <a:endParaRPr lang="en-US" sz="1300" dirty="0"/>
          </a:p>
        </p:txBody>
      </p:sp>
      <p:sp>
        <p:nvSpPr>
          <p:cNvPr id="12" name="Step 2. Text"/>
          <p:cNvSpPr/>
          <p:nvPr/>
        </p:nvSpPr>
        <p:spPr>
          <a:xfrm>
            <a:off x="5943600" y="269748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053328" y="280720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Text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53328" y="32004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emotion-RoBERTa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tone</a:t>
            </a:r>
            <a:endParaRPr lang="en-US" sz="1300" dirty="0"/>
          </a:p>
        </p:txBody>
      </p:sp>
      <p:sp>
        <p:nvSpPr>
          <p:cNvPr id="15" name="Step 3. LLM (NEW)"/>
          <p:cNvSpPr/>
          <p:nvPr/>
        </p:nvSpPr>
        <p:spPr>
          <a:xfrm>
            <a:off x="5943600" y="4114800"/>
            <a:ext cx="2377440" cy="1325880"/>
          </a:xfrm>
          <a:prstGeom prst="roundRect">
            <a:avLst>
              <a:gd name="adj" fmla="val 8276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053328" y="42245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3. LLM (NEW)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53328" y="461772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rates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PHQ-8 symptoms</a:t>
            </a:r>
            <a:endParaRPr lang="en-US" sz="1300" dirty="0"/>
          </a:p>
        </p:txBody>
      </p:sp>
      <p:sp>
        <p:nvSpPr>
          <p:cNvPr id="18" name="Step 4. Combine"/>
          <p:cNvSpPr/>
          <p:nvPr/>
        </p:nvSpPr>
        <p:spPr>
          <a:xfrm>
            <a:off x="8961120" y="132588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070848" y="143560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4. Combine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070848" y="1828800"/>
            <a:ext cx="252374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risk score 0-1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flag if above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2286000" y="1874520"/>
            <a:ext cx="640080" cy="141732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86000" y="3291840"/>
            <a:ext cx="640080" cy="64008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5303520" y="3291840"/>
            <a:ext cx="640080" cy="64008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03520" y="3931920"/>
            <a:ext cx="640080" cy="82296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21040" y="1874520"/>
            <a:ext cx="64008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21040" y="3291840"/>
            <a:ext cx="64008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321040" y="4754880"/>
            <a:ext cx="640080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gives its own score from 0 to 1; step 4 merges the three into one risk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Steps 1 and 2: voice and text scores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Voice (how they speak)</a:t>
            </a:r>
            <a:endParaRPr lang="en-US" sz="1800" dirty="0"/>
          </a:p>
        </p:txBody>
      </p:sp>
      <p:sp>
        <p:nvSpPr>
          <p:cNvPr id="4" name="Find speech"/>
          <p:cNvSpPr/>
          <p:nvPr/>
        </p:nvSpPr>
        <p:spPr>
          <a:xfrm>
            <a:off x="548640" y="173736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speech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40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cuts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silence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23744" y="239572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8" name="Voice encoders"/>
          <p:cNvSpPr/>
          <p:nvPr/>
        </p:nvSpPr>
        <p:spPr>
          <a:xfrm>
            <a:off x="2825496" y="173736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35224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encoders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2240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 layer 6,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HuBERT layers 19, 20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239572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12" name="Average"/>
          <p:cNvSpPr/>
          <p:nvPr/>
        </p:nvSpPr>
        <p:spPr>
          <a:xfrm>
            <a:off x="5102352" y="173736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12080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240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whole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-&gt; 768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numbers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77456" y="239572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16" name="Ridge regression"/>
          <p:cNvSpPr/>
          <p:nvPr/>
        </p:nvSpPr>
        <p:spPr>
          <a:xfrm>
            <a:off x="7379208" y="173736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88936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88936" y="2240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PHQ-8 score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54312" y="239572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20" name="Voice score"/>
          <p:cNvSpPr/>
          <p:nvPr/>
        </p:nvSpPr>
        <p:spPr>
          <a:xfrm>
            <a:off x="9656064" y="173736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765792" y="1847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score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2240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the 3,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0-1 rank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Text (emotional tone of the words)</a:t>
            </a:r>
            <a:endParaRPr lang="en-US" sz="1800" dirty="0"/>
          </a:p>
        </p:txBody>
      </p:sp>
      <p:sp>
        <p:nvSpPr>
          <p:cNvPr id="24" name="Transcript"/>
          <p:cNvSpPr/>
          <p:nvPr/>
        </p:nvSpPr>
        <p:spPr>
          <a:xfrm>
            <a:off x="548640" y="393192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8368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4434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Whisper-tiny writes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said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3744" y="459028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28" name="Emotion model"/>
          <p:cNvSpPr/>
          <p:nvPr/>
        </p:nvSpPr>
        <p:spPr>
          <a:xfrm>
            <a:off x="2825496" y="393192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935224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model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935224" y="4434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emotion-RoBERTa-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reads it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459028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32" name="Embedding"/>
          <p:cNvSpPr/>
          <p:nvPr/>
        </p:nvSpPr>
        <p:spPr>
          <a:xfrm>
            <a:off x="5102352" y="393192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212080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4434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numbers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tone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077456" y="459028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36" name="Ridge regression"/>
          <p:cNvSpPr/>
          <p:nvPr/>
        </p:nvSpPr>
        <p:spPr>
          <a:xfrm>
            <a:off x="7379208" y="393192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488936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488936" y="4434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PHQ-8 score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354312" y="459028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40" name="Text score"/>
          <p:cNvSpPr/>
          <p:nvPr/>
        </p:nvSpPr>
        <p:spPr>
          <a:xfrm>
            <a:off x="9656064" y="393192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765792" y="4041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score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765792" y="4434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0-1 rank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encoders are pre-trained and frozen; we only train the small ridge regressions (strength chosen by inner cross-validation).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3: how the LLM scores symptoms</a:t>
            </a:r>
            <a:endParaRPr lang="en-US" sz="3200" dirty="0"/>
          </a:p>
        </p:txBody>
      </p:sp>
      <p:sp>
        <p:nvSpPr>
          <p:cNvPr id="3" name="Transcript"/>
          <p:cNvSpPr/>
          <p:nvPr/>
        </p:nvSpPr>
        <p:spPr>
          <a:xfrm>
            <a:off x="548640" y="128016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389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participant's words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23744" y="193852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7" name="Prompt"/>
          <p:cNvSpPr/>
          <p:nvPr/>
        </p:nvSpPr>
        <p:spPr>
          <a:xfrm>
            <a:off x="2825496" y="128016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35224" y="1389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35224" y="17830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"Rate each PHQ-8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0-3"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93852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11" name="Mistral-7B"/>
          <p:cNvSpPr/>
          <p:nvPr/>
        </p:nvSpPr>
        <p:spPr>
          <a:xfrm>
            <a:off x="5102352" y="128016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12080" y="1389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7830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4-bit, runs offline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laptop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77456" y="193852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15" name="8 symptom scores"/>
          <p:cNvSpPr/>
          <p:nvPr/>
        </p:nvSpPr>
        <p:spPr>
          <a:xfrm>
            <a:off x="7379208" y="128016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88936" y="1389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symptom scores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488936" y="17830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0-3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symptom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54312" y="1938528"/>
            <a:ext cx="283464" cy="0"/>
          </a:xfrm>
          <a:prstGeom prst="line">
            <a:avLst/>
          </a:prstGeom>
          <a:noFill/>
          <a:ln w="25400">
            <a:solidFill>
              <a:srgbClr val="8D99AE"/>
            </a:solidFill>
            <a:prstDash val="solid"/>
            <a:tailEnd type="triangle"/>
          </a:ln>
        </p:spPr>
      </p:sp>
      <p:sp>
        <p:nvSpPr>
          <p:cNvPr id="19" name="Ridge -&gt; LLM score"/>
          <p:cNvSpPr/>
          <p:nvPr/>
        </p:nvSpPr>
        <p:spPr>
          <a:xfrm>
            <a:off x="9656064" y="1280160"/>
            <a:ext cx="1956816" cy="1325880"/>
          </a:xfrm>
          <a:prstGeom prst="roundRect">
            <a:avLst>
              <a:gd name="adj" fmla="val 827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765792" y="1389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-&gt; LLM score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765792" y="17830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symptoms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matter, 0-1 rank</a:t>
            </a:r>
            <a:endParaRPr lang="en-US" sz="1300" dirty="0"/>
          </a:p>
        </p:txBody>
      </p:sp>
      <p:pic>
        <p:nvPicPr>
          <p:cNvPr id="22" name="Image 0" descr="Example probabilities for the sleep i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80360"/>
            <a:ext cx="4754880" cy="3291840"/>
          </a:xfrm>
          <a:prstGeom prst="rect">
            <a:avLst/>
          </a:prstGeom>
        </p:spPr>
      </p:pic>
      <p:sp>
        <p:nvSpPr>
          <p:cNvPr id="23" name="ev"/>
          <p:cNvSpPr/>
          <p:nvPr/>
        </p:nvSpPr>
        <p:spPr>
          <a:xfrm>
            <a:off x="5669280" y="2926080"/>
            <a:ext cx="5943600" cy="315468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897880" y="3063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the answer: the probabilities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897880" y="35661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symptom we read how likely the model thinks 0, 1, 2 and 3 are, and take the average: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x 0.10 + 1 x 0.45 + 2 x 0.35 + 3 x 0.10 = 1.45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of 1.45 keeps the model's uncertainty, which works better than a hard "1".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3: which symptoms the LLM detects best</a:t>
            </a:r>
            <a:endParaRPr lang="en-US" sz="3200" dirty="0"/>
          </a:p>
        </p:txBody>
      </p:sp>
      <p:pic>
        <p:nvPicPr>
          <p:cNvPr id="3" name="Image 0" descr="AUC for each of the 8 LLM symptom sc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760720" cy="4663440"/>
          </a:xfrm>
          <a:prstGeom prst="rect">
            <a:avLst/>
          </a:prstGeom>
        </p:spPr>
      </p:pic>
      <p:sp>
        <p:nvSpPr>
          <p:cNvPr id="4" name="items"/>
          <p:cNvSpPr/>
          <p:nvPr/>
        </p:nvSpPr>
        <p:spPr>
          <a:xfrm>
            <a:off x="6675120" y="137160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903720" y="1508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2057400"/>
            <a:ext cx="4480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concentration, mood and tiredness each spot depression well on their own (AUC ~0.8)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is weak: the LLM gives almost everyone the same score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together, with no training: AUC 0.82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then learns the best weighting: AUC 0.83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4: combining the three scores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each part counts (logistic-regression weights)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94560" y="1993392"/>
            <a:ext cx="184023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26230" y="1920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4560" y="2862072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2788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symptoms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3730752"/>
            <a:ext cx="3429000" cy="411480"/>
          </a:xfrm>
          <a:prstGeom prst="roundRect">
            <a:avLst>
              <a:gd name="adj" fmla="val 17778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72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counts about twice as much as voice or text.</a:t>
            </a:r>
            <a:endParaRPr lang="en-US" sz="1500" dirty="0"/>
          </a:p>
        </p:txBody>
      </p:sp>
      <p:sp>
        <p:nvSpPr>
          <p:cNvPr id="14" name="thr"/>
          <p:cNvSpPr/>
          <p:nvPr/>
        </p:nvSpPr>
        <p:spPr>
          <a:xfrm>
            <a:off x="6492240" y="137160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20840" y="1508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decision thresholds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05740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 to 1 from the three weighted parts.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Max-accuracy: flag if &gt; 0.542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mistakes overall (79% accuracy), but catches only about half of depressed people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Balanced: flag if &gt; 0.196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77% of depressed people; better for screening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Training the final model and using it</a:t>
            </a:r>
            <a:endParaRPr lang="en-US" sz="3200" dirty="0"/>
          </a:p>
        </p:txBody>
      </p:sp>
      <p:pic>
        <p:nvPicPr>
          <p:cNvPr id="3" name="Image 0" descr="Terminal output of predict_audio.py scoring participant 60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308327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1371600"/>
            <a:ext cx="3108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all 272 people </a:t>
            </a:r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exactly the steps that were tested.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command: </a:t>
            </a:r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in, risk score out, with the 8 symptom ratings shown.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training pipeline exactly (score 0.036 for this person).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846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models/final_phase9_f1.joblib. Runs offline on an 8 GB MacBook in about 1-3 minutes. Screening aid only, not a diagnosis.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we trust it, and its limits</a:t>
            </a:r>
            <a:endParaRPr lang="en-US" sz="3200" dirty="0"/>
          </a:p>
        </p:txBody>
      </p:sp>
      <p:sp>
        <p:nvSpPr>
          <p:cNvPr id="3" name="Why it is real"/>
          <p:cNvSpPr/>
          <p:nvPr/>
        </p:nvSpPr>
        <p:spPr>
          <a:xfrm>
            <a:off x="548640" y="137160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real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agree: 79.1% and 78.8%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17 people who say "I am depressed": AUC still 0.835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both interview setups (AUC 0.84 / 0.86) and both genders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never sees labels; nothing tuned on test people</a:t>
            </a:r>
            <a:endParaRPr lang="en-US" sz="1500" dirty="0"/>
          </a:p>
        </p:txBody>
      </p:sp>
      <p:sp>
        <p:nvSpPr>
          <p:cNvPr id="6" name="Limits"/>
          <p:cNvSpPr/>
          <p:nvPr/>
        </p:nvSpPr>
        <p:spPr>
          <a:xfrm>
            <a:off x="6217920" y="137160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unseen people is small: 1 person = 3 points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33 were opened once before (Oct 19), so a repeat check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max-accuracy threshold only about half of depressed people are caught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prototype, not a diagnosis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74.3% -&gt; 79.1% accuracy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Model 1 to Model 2: fixed voice settings, +0.9 points. Model 2 to Model 3: added local LLM symptom scoring, +3.9 points.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Final model: 79.1% (cross-validation, AUC 0.84) and 78.8% on 33 unseen people (AUC 0.87), against a 68.8% / 66.7% baseline.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ression Screening">
  <a:themeElements>
    <a:clrScheme name="Depression Screening">
      <a:dk1>
        <a:srgbClr val="1D2433"/>
      </a:dk1>
      <a:lt1>
        <a:srgbClr val="FFFFFF"/>
      </a:lt1>
      <a:dk2>
        <a:srgbClr val="14213D"/>
      </a:dk2>
      <a:lt2>
        <a:srgbClr val="EEF3F6"/>
      </a:lt2>
      <a:accent1>
        <a:srgbClr val="2A9D8F"/>
      </a:accent1>
      <a:accent2>
        <a:srgbClr val="E76F51"/>
      </a:accent2>
      <a:accent3>
        <a:srgbClr val="8D99AE"/>
      </a:accent3>
      <a:accent4>
        <a:srgbClr val="E9C46A"/>
      </a:accent4>
      <a:accent5>
        <a:srgbClr val="264653"/>
      </a:accent5>
      <a:accent6>
        <a:srgbClr val="A8DADC"/>
      </a:accent6>
      <a:hlink>
        <a:srgbClr val="2A9D8F"/>
      </a:hlink>
      <a:folHlink>
        <a:srgbClr val="8D99AE"/>
      </a:folHlink>
    </a:clrScheme>
    <a:fontScheme name="Depression Screen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Depression Detection from Interview Speech: Progress and Final Model</dc:title>
  <dc:subject>PptxGenJS Presentation</dc:subject>
  <dc:creator>Vivan</dc:creator>
  <cp:lastModifiedBy>Vivan</cp:lastModifiedBy>
  <cp:revision>1</cp:revision>
  <dcterms:created xsi:type="dcterms:W3CDTF">2026-10-27T10:40:54Z</dcterms:created>
  <dcterms:modified xsi:type="dcterms:W3CDTF">2026-10-27T10:40:54Z</dcterms:modified>
</cp:coreProperties>
</file>