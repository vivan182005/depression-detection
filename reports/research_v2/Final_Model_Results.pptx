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b79a1a4-79ce-3f6c-3df3-5e5c1ca93d23}">
          <p14:sldIdLst>
            <p14:sldId id="256"/>
            <p14:sldId id="257"/>
          </p14:sldIdLst>
        </p14:section>
        <p14:section name="What we use" id="{5f76930c-e87f-85b9-8d96-6c4c1d1f1b99}">
          <p14:sldIdLst>
            <p14:sldId id="258"/>
            <p14:sldId id="259"/>
            <p14:sldId id="260"/>
          </p14:sldIdLst>
        </p14:section>
        <p14:section name="Testing" id="{3862fe7f-ffc7-02d2-fcee-db2267e82728}">
          <p14:sldIdLst>
            <p14:sldId id="261"/>
          </p14:sldIdLst>
        </p14:section>
        <p14:section name="Results" id="{6212eee2-ee7f-aebd-e5c1-f3f420e5d97d}">
          <p14:sldIdLst>
            <p14:sldId id="262"/>
            <p14:sldId id="263"/>
            <p14:sldId id="264"/>
            <p14:sldId id="265"/>
            <p14:sldId id="266"/>
          </p14:sldIdLst>
        </p14:section>
        <p14:section name="Conclusion" id="{be6eb2cc-dee4-33e6-9d2a-63fa756d0001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Capstone final model. One sentence: we screen for depression (PHQ-8 &gt;= 10) from a recorded interview, and adding a local language model that scores PHQ-8 symptoms raised accuracy from 74% to 79%.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 model must beat 68.8% just to be useful, because 69% of people are not depressed. That is why we also report balanced accuracy and AUC.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views of one interview. Voice: how the person sounds. Text: the emotional tone of their words. LLM: which depression symptoms they actually describe. Only the LLM part is new in Phase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AUC 0.5 = coin toss, 1.0 = perfect. Sleep, concentration, mood and tiredness are the strongest. Interest is weak because the model rates nearly everyone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gain from Phase 8 to the final model, +0.057 AUC, has a 95% confidence interval of +0.015 to +0.102, so it is not luck.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A 79.1% and Test B 78.8% agree within 0.3 points, so the number is stable. With 33 people, one person is 3 percentage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CADCFC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9AE"/>
                </a:solidFill>
              </a:rPr>
              <a:t>Depression detection capstone | Phase 9 final model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Detecting Depression from Interview Speech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Final model: voice + text + local LLM symptom scoring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Accuracy 79% (cross-validation), 78.8% on 33 unseen people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task: screen for depression from one interview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of a 7-20 minute clinical interview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PHQ-8 &gt;= 10 (clinically depressed)? yes / no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DAIC-WOZ + E-DAIC (USC), the standard benchmark</a:t>
            </a:r>
            <a:endParaRPr lang="en-US" sz="1800" dirty="0"/>
          </a:p>
        </p:txBody>
      </p:sp>
      <p:sp>
        <p:nvSpPr>
          <p:cNvPr id="4" name="stat0"/>
          <p:cNvSpPr/>
          <p:nvPr/>
        </p:nvSpPr>
        <p:spPr>
          <a:xfrm>
            <a:off x="548640" y="292608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32461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272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572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interviewed</a:t>
            </a:r>
            <a:endParaRPr lang="en-US" sz="1600" dirty="0"/>
          </a:p>
        </p:txBody>
      </p:sp>
      <p:sp>
        <p:nvSpPr>
          <p:cNvPr id="7" name="stat1"/>
          <p:cNvSpPr/>
          <p:nvPr/>
        </p:nvSpPr>
        <p:spPr>
          <a:xfrm>
            <a:off x="4343400" y="292608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17720" y="32461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4572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depressed (31%)</a:t>
            </a:r>
            <a:endParaRPr lang="en-US" sz="1600" dirty="0"/>
          </a:p>
        </p:txBody>
      </p:sp>
      <p:sp>
        <p:nvSpPr>
          <p:cNvPr id="10" name="stat2"/>
          <p:cNvSpPr/>
          <p:nvPr/>
        </p:nvSpPr>
        <p:spPr>
          <a:xfrm>
            <a:off x="8138160" y="292608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412480" y="32461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76F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68.8%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4572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of always guessing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depressed" (the baseline)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How the final model works</a:t>
            </a:r>
            <a:endParaRPr lang="en-US" sz="3200" dirty="0"/>
          </a:p>
        </p:txBody>
      </p:sp>
      <p:sp>
        <p:nvSpPr>
          <p:cNvPr id="3" name="Interview audio"/>
          <p:cNvSpPr/>
          <p:nvPr/>
        </p:nvSpPr>
        <p:spPr>
          <a:xfrm>
            <a:off x="457200" y="2651760"/>
            <a:ext cx="1828800" cy="1280160"/>
          </a:xfrm>
          <a:prstGeom prst="roundRect">
            <a:avLst>
              <a:gd name="adj" fmla="val 8571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2788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audio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only</a:t>
            </a:r>
            <a:endParaRPr lang="en-US" sz="1300" dirty="0"/>
          </a:p>
        </p:txBody>
      </p:sp>
      <p:sp>
        <p:nvSpPr>
          <p:cNvPr id="6" name="1. Voice: how they speak"/>
          <p:cNvSpPr/>
          <p:nvPr/>
        </p:nvSpPr>
        <p:spPr>
          <a:xfrm>
            <a:off x="2926080" y="1325880"/>
            <a:ext cx="5394960" cy="109728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06324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Voice: how they speak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wav2vec2 + HuBERT (frozen) -&gt; ridge</a:t>
            </a:r>
            <a:endParaRPr lang="en-US" sz="1300" dirty="0"/>
          </a:p>
        </p:txBody>
      </p:sp>
      <p:sp>
        <p:nvSpPr>
          <p:cNvPr id="9" name="Transcript"/>
          <p:cNvSpPr/>
          <p:nvPr/>
        </p:nvSpPr>
        <p:spPr>
          <a:xfrm>
            <a:off x="2926080" y="329184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063240" y="34290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38404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speech-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to-text</a:t>
            </a:r>
            <a:endParaRPr lang="en-US" sz="1300" dirty="0"/>
          </a:p>
        </p:txBody>
      </p:sp>
      <p:sp>
        <p:nvSpPr>
          <p:cNvPr id="12" name="2. Text"/>
          <p:cNvSpPr/>
          <p:nvPr/>
        </p:nvSpPr>
        <p:spPr>
          <a:xfrm>
            <a:off x="5943600" y="2697480"/>
            <a:ext cx="2377440" cy="1188720"/>
          </a:xfrm>
          <a:prstGeom prst="roundRect">
            <a:avLst>
              <a:gd name="adj" fmla="val 9231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080760" y="28346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Text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080760" y="32461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emotion-RoBERTa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tone</a:t>
            </a:r>
            <a:endParaRPr lang="en-US" sz="1300" dirty="0"/>
          </a:p>
        </p:txBody>
      </p:sp>
      <p:sp>
        <p:nvSpPr>
          <p:cNvPr id="15" name="3. LLM (NEW)"/>
          <p:cNvSpPr/>
          <p:nvPr/>
        </p:nvSpPr>
        <p:spPr>
          <a:xfrm>
            <a:off x="5943600" y="4114800"/>
            <a:ext cx="2377440" cy="1325880"/>
          </a:xfrm>
          <a:prstGeom prst="roundRect">
            <a:avLst>
              <a:gd name="adj" fmla="val 8276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080760" y="4251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LLM (NEW)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46634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Mistral-7B rates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PHQ-8 symptoms</a:t>
            </a:r>
            <a:endParaRPr lang="en-US" sz="1300" dirty="0"/>
          </a:p>
        </p:txBody>
      </p:sp>
      <p:sp>
        <p:nvSpPr>
          <p:cNvPr id="18" name="Combine"/>
          <p:cNvSpPr/>
          <p:nvPr/>
        </p:nvSpPr>
        <p:spPr>
          <a:xfrm>
            <a:off x="8961120" y="1325880"/>
            <a:ext cx="2743200" cy="4114800"/>
          </a:xfrm>
          <a:prstGeom prst="roundRect">
            <a:avLst>
              <a:gd name="adj" fmla="val 4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098280" y="1463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1874520"/>
            <a:ext cx="2468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risk score 0-1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flag if above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 flipV="1">
            <a:off x="2286000" y="3291840"/>
            <a:ext cx="640080" cy="-1417320"/>
          </a:xfrm>
          <a:prstGeom prst="line">
            <a:avLst/>
          </a:prstGeom>
          <a:noFill/>
          <a:ln w="25400">
            <a:solidFill>
              <a:srgbClr val="8D99AE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286000" y="3291840"/>
            <a:ext cx="640080" cy="640080"/>
          </a:xfrm>
          <a:prstGeom prst="line">
            <a:avLst/>
          </a:prstGeom>
          <a:noFill/>
          <a:ln w="25400">
            <a:solidFill>
              <a:srgbClr val="8D99AE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5303520" y="3931920"/>
            <a:ext cx="640080" cy="-640080"/>
          </a:xfrm>
          <a:prstGeom prst="line">
            <a:avLst/>
          </a:prstGeom>
          <a:noFill/>
          <a:ln w="25400">
            <a:solidFill>
              <a:srgbClr val="8D99AE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303520" y="3931920"/>
            <a:ext cx="640080" cy="822960"/>
          </a:xfrm>
          <a:prstGeom prst="line">
            <a:avLst/>
          </a:prstGeom>
          <a:noFill/>
          <a:ln w="25400">
            <a:solidFill>
              <a:srgbClr val="8D99AE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321040" y="1874520"/>
            <a:ext cx="640080" cy="0"/>
          </a:xfrm>
          <a:prstGeom prst="line">
            <a:avLst/>
          </a:prstGeom>
          <a:noFill/>
          <a:ln w="25400">
            <a:solidFill>
              <a:srgbClr val="8D99AE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321040" y="3291840"/>
            <a:ext cx="640080" cy="0"/>
          </a:xfrm>
          <a:prstGeom prst="line">
            <a:avLst/>
          </a:prstGeom>
          <a:noFill/>
          <a:ln w="25400">
            <a:solidFill>
              <a:srgbClr val="8D99A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321040" y="4754880"/>
            <a:ext cx="640080" cy="0"/>
          </a:xfrm>
          <a:prstGeom prst="line">
            <a:avLst/>
          </a:prstGeom>
          <a:noFill/>
          <a:ln w="25400">
            <a:solidFill>
              <a:srgbClr val="8D99AE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gives its own score; a small logistic regression combines the three into one risk score.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Every model in the pipeline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3931920"/>
                <a:gridCol w="1645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Trained by us?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speech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Silero VAD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out silence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(pre-trained)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wav2vec2-base (layer 6), HuBERT-large-ER (layers 19, 20)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speech into 768/1024 numbers describing the voice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(frozen)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Speech-to-text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Whisper-tiny (OpenAI)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down what the person said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(pre-trained)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emotion-RoBERTa-large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the transcript into an emotion embedding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(frozen)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76F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Symptoms (NEW)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Mistral-7B-Instruct v0.3, 4-bit, run locally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the transcript, rates 8 PHQ-8 symptoms 0-3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(zero-shot)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Per-part learner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regression (x5)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Predicts the PHQ-8 score from each part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Merges the 3 scores into one risk score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models are used frozen; only small models are trained, which is right for 272 people (no overfitting).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new idea: let an LLM read the interview</a:t>
            </a:r>
            <a:endParaRPr lang="en-US" sz="3200" dirty="0"/>
          </a:p>
        </p:txBody>
      </p:sp>
      <p:sp>
        <p:nvSpPr>
          <p:cNvPr id="3" name="llmcard"/>
          <p:cNvSpPr/>
          <p:nvPr/>
        </p:nvSpPr>
        <p:spPr>
          <a:xfrm>
            <a:off x="548640" y="1371600"/>
            <a:ext cx="4937760" cy="4480560"/>
          </a:xfrm>
          <a:prstGeom prst="roundRect">
            <a:avLst>
              <a:gd name="adj" fmla="val 2449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389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"Estimate how the participant would answer each PHQ-8 item, 0-3."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(participant 606)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interest 0.1, depressed 0.0, sleep 0.0, tired 0.4, appetite 0.0, failure 0.0, concentration 1.3, psychomotor 0.0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sees any label. No training. Runs offline on the laptop (Apple MLX).</a:t>
            </a:r>
            <a:endParaRPr lang="en-US" sz="1700" dirty="0"/>
          </a:p>
        </p:txBody>
      </p:sp>
      <p:pic>
        <p:nvPicPr>
          <p:cNvPr id="5" name="Image 0" descr="Bar chart of AUC for each of the 8 LLM symptom sc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280160"/>
            <a:ext cx="5760720" cy="4663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Two honest tests, no data leakage</a:t>
            </a:r>
            <a:endParaRPr lang="en-US" sz="3200" dirty="0"/>
          </a:p>
        </p:txBody>
      </p:sp>
      <p:sp>
        <p:nvSpPr>
          <p:cNvPr id="3" name="test0"/>
          <p:cNvSpPr/>
          <p:nvPr/>
        </p:nvSpPr>
        <p:spPr>
          <a:xfrm>
            <a:off x="548640" y="137160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A: cross-validation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272 people. Train on 4/5, test on the other 1/5, rotate until everyone is tested; repeat with 5 different splits.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person is predicted by a model that never saw them.</a:t>
            </a:r>
            <a:endParaRPr lang="en-US" sz="1500" dirty="0"/>
          </a:p>
        </p:txBody>
      </p:sp>
      <p:sp>
        <p:nvSpPr>
          <p:cNvPr id="8" name="test1"/>
          <p:cNvSpPr/>
          <p:nvPr/>
        </p:nvSpPr>
        <p:spPr>
          <a:xfrm>
            <a:off x="6217920" y="1371600"/>
            <a:ext cx="5394960" cy="3108960"/>
          </a:xfrm>
          <a:prstGeom prst="roundRect">
            <a:avLst>
              <a:gd name="adj" fmla="val 3529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0" y="1645920"/>
            <a:ext cx="548640" cy="5486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B: unseen holdout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42316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only on 239 people. Test once on 33 people kept aside in the "unseen" folder.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settings (strengths, combiner, threshold) chosen on the 239 only.</a:t>
            </a:r>
            <a:endParaRPr lang="en-US" sz="1500" dirty="0"/>
          </a:p>
        </p:txBody>
      </p:sp>
      <p:sp>
        <p:nvSpPr>
          <p:cNvPr id="13" name="rules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937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we kept: </a:t>
            </a:r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appears in both training and test; the LLM never sees a label; interviewer questions removed from transcripts; plan and adoption rule written and pushed to GitHub before running.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Result A: accuracy rises from 74.3% to 79.1%</a:t>
            </a:r>
            <a:endParaRPr lang="en-US" sz="3200" dirty="0"/>
          </a:p>
        </p:txBody>
      </p:sp>
      <p:pic>
        <p:nvPicPr>
          <p:cNvPr id="3" name="Image 0" descr="Accuracy of baseline and three models under cross-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949440" cy="4846320"/>
          </a:xfrm>
          <a:prstGeom prst="rect">
            <a:avLst/>
          </a:prstGeom>
        </p:spPr>
      </p:pic>
      <p:sp>
        <p:nvSpPr>
          <p:cNvPr id="4" name="kpiA0"/>
          <p:cNvSpPr/>
          <p:nvPr/>
        </p:nvSpPr>
        <p:spPr>
          <a:xfrm>
            <a:off x="7863840" y="1371600"/>
            <a:ext cx="3749040" cy="13716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092440" y="14630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76F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0.843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(was 0.764)</a:t>
            </a:r>
            <a:endParaRPr lang="en-US" sz="1300" dirty="0"/>
          </a:p>
        </p:txBody>
      </p:sp>
      <p:sp>
        <p:nvSpPr>
          <p:cNvPr id="7" name="kpiA1"/>
          <p:cNvSpPr/>
          <p:nvPr/>
        </p:nvSpPr>
        <p:spPr>
          <a:xfrm>
            <a:off x="7863840" y="2971800"/>
            <a:ext cx="3749040" cy="13716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92440" y="30632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76F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72.4%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3749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 (was 67.0%)</a:t>
            </a:r>
            <a:endParaRPr lang="en-US" sz="1300" dirty="0"/>
          </a:p>
        </p:txBody>
      </p:sp>
      <p:sp>
        <p:nvSpPr>
          <p:cNvPr id="10" name="kpiA2"/>
          <p:cNvSpPr/>
          <p:nvPr/>
        </p:nvSpPr>
        <p:spPr>
          <a:xfrm>
            <a:off x="7863840" y="4572000"/>
            <a:ext cx="3749040" cy="13716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092440" y="46634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76F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77%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53492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depressed people caught at the balanced threshold (was 64%)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Result B: 26 of 33 unseen people correct</a:t>
            </a:r>
            <a:endParaRPr lang="en-US" sz="3200" dirty="0"/>
          </a:p>
        </p:txBody>
      </p:sp>
      <p:pic>
        <p:nvPicPr>
          <p:cNvPr id="3" name="Image 0" descr="Accuracy of baseline and three models on 33 unseen peo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949440" cy="4846320"/>
          </a:xfrm>
          <a:prstGeom prst="rect">
            <a:avLst/>
          </a:prstGeom>
        </p:spPr>
      </p:pic>
      <p:sp>
        <p:nvSpPr>
          <p:cNvPr id="4" name="kpiB0"/>
          <p:cNvSpPr/>
          <p:nvPr/>
        </p:nvSpPr>
        <p:spPr>
          <a:xfrm>
            <a:off x="7863840" y="1371600"/>
            <a:ext cx="3749040" cy="13716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092440" y="14630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76F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0.868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(Phase 7: 0.777)</a:t>
            </a:r>
            <a:endParaRPr lang="en-US" sz="1300" dirty="0"/>
          </a:p>
        </p:txBody>
      </p:sp>
      <p:sp>
        <p:nvSpPr>
          <p:cNvPr id="7" name="kpiB1"/>
          <p:cNvSpPr/>
          <p:nvPr/>
        </p:nvSpPr>
        <p:spPr>
          <a:xfrm>
            <a:off x="7863840" y="2971800"/>
            <a:ext cx="3749040" cy="13716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092440" y="30632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76F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/ 22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3749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people correctly cleared</a:t>
            </a:r>
            <a:endParaRPr lang="en-US" sz="1300" dirty="0"/>
          </a:p>
        </p:txBody>
      </p:sp>
      <p:sp>
        <p:nvSpPr>
          <p:cNvPr id="10" name="kpiB2"/>
          <p:cNvSpPr/>
          <p:nvPr/>
        </p:nvSpPr>
        <p:spPr>
          <a:xfrm>
            <a:off x="7863840" y="4572000"/>
            <a:ext cx="3749040" cy="1371600"/>
          </a:xfrm>
          <a:prstGeom prst="roundRect">
            <a:avLst>
              <a:gd name="adj" fmla="val 8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092440" y="46634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76F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/ 11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53492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depressed caught at the balanced threshold (Phase 7: 7)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Three models side by side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560320"/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7 (74.3%)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8 (75.2%)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(+LLM)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6F51"/>
                    </a:solidFill>
                  </a:tcPr>
                </a:tc>
              </a:tr>
              <a:tr h="438912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A: cross-validation, 272 people (baseline 68.8%)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76F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accuracy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76F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76F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MCC / macro-F1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 / 0.68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 / 0.69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76F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 / 0.74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B: train 239, test 33 unseen (baseline 66.7%)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72.7% (24/33)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72.7% (24/33)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76F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78.8% (26/33)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76F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Depressed caught (balanced thr.)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/ 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76F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vs Phase 7: AUC +0.079 [95% CI +0.035, +0.124]. Final vs Phase 8: +0.057 [+0.015, +0.102]. Both significant.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Screenshot: the results as printed</a:t>
            </a:r>
            <a:endParaRPr lang="en-US" sz="3200" dirty="0"/>
          </a:p>
        </p:txBody>
      </p:sp>
      <p:pic>
        <p:nvPicPr>
          <p:cNvPr id="3" name="Image 0" descr="Terminal output of the cross-validation and holdout results for the three mode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589520" cy="406688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03920" y="1371600"/>
            <a:ext cx="3108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block: </a:t>
            </a:r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A, cross-validation on 272.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block: </a:t>
            </a:r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B, trained on 239, tested on 33 unseen.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= final model.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 = accuracy, bal-acc = balanced accuracy, sens = depressed caught, spec = healthy cleared.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Screenshot: the app on one recording</a:t>
            </a:r>
            <a:endParaRPr lang="en-US" sz="3200" dirty="0"/>
          </a:p>
        </p:txBody>
      </p:sp>
      <p:pic>
        <p:nvPicPr>
          <p:cNvPr id="3" name="Image 0" descr="Terminal output of predict_audio.py scoring participant 60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8046720" cy="323010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961120" y="1371600"/>
            <a:ext cx="2651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command: </a:t>
            </a:r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in, risk score out.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8 LLM symptom ratings, so the result is explainable.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matches the training pipeline exactly (score 0.036).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937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C6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fully offline on an 8 GB MacBook in about 1-3 minutes. Screening aid only, not a diagnosis.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Why we trust it, and its limits</a:t>
            </a:r>
            <a:endParaRPr lang="en-US" sz="3200" dirty="0"/>
          </a:p>
        </p:txBody>
      </p:sp>
      <p:sp>
        <p:nvSpPr>
          <p:cNvPr id="3" name="Why it is real"/>
          <p:cNvSpPr/>
          <p:nvPr/>
        </p:nvSpPr>
        <p:spPr>
          <a:xfrm>
            <a:off x="548640" y="1371600"/>
            <a:ext cx="5394960" cy="3657600"/>
          </a:xfrm>
          <a:prstGeom prst="roundRect">
            <a:avLst>
              <a:gd name="adj" fmla="val 3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is real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tests agree: 79.1% and 78.8%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17 people who say "I am depressed": AUC still 0.835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both interview setups (AUC 0.84 / 0.86) and both genders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never sees labels; nothing tuned on test people</a:t>
            </a:r>
            <a:endParaRPr lang="en-US" sz="1500" dirty="0"/>
          </a:p>
        </p:txBody>
      </p:sp>
      <p:sp>
        <p:nvSpPr>
          <p:cNvPr id="6" name="Limits"/>
          <p:cNvSpPr/>
          <p:nvPr/>
        </p:nvSpPr>
        <p:spPr>
          <a:xfrm>
            <a:off x="6217920" y="1371600"/>
            <a:ext cx="5394960" cy="3657600"/>
          </a:xfrm>
          <a:prstGeom prst="roundRect">
            <a:avLst>
              <a:gd name="adj" fmla="val 3000"/>
            </a:avLst>
          </a:prstGeom>
          <a:solidFill>
            <a:srgbClr val="EEF3F6"/>
          </a:solidFill>
          <a:ln w="12700">
            <a:solidFill>
              <a:srgbClr val="EEF3F6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1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76F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unseen people is small: 1 person = 3 points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33 were opened once before (Oct 19), so a repeat check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max-accuracy threshold only about half of depressed people are caught; use the balanced threshold for screening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prototype, not a diagnosis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D99A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79% accuracy, AUC 0.84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Adding local LLM symptom scoring to voice + text raised accuracy from 74.3% to 79.1% (cross-validation) and from 72.7% to 78.8% on 33 unseen people, against a 68.8% / 66.7% baseline.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pression Screening">
  <a:themeElements>
    <a:clrScheme name="Depression Screening">
      <a:dk1>
        <a:srgbClr val="1D2433"/>
      </a:dk1>
      <a:lt1>
        <a:srgbClr val="FFFFFF"/>
      </a:lt1>
      <a:dk2>
        <a:srgbClr val="14213D"/>
      </a:dk2>
      <a:lt2>
        <a:srgbClr val="EEF3F6"/>
      </a:lt2>
      <a:accent1>
        <a:srgbClr val="2A9D8F"/>
      </a:accent1>
      <a:accent2>
        <a:srgbClr val="E76F51"/>
      </a:accent2>
      <a:accent3>
        <a:srgbClr val="8D99AE"/>
      </a:accent3>
      <a:accent4>
        <a:srgbClr val="E9C46A"/>
      </a:accent4>
      <a:accent5>
        <a:srgbClr val="264653"/>
      </a:accent5>
      <a:accent6>
        <a:srgbClr val="A8DADC"/>
      </a:accent6>
      <a:hlink>
        <a:srgbClr val="2A9D8F"/>
      </a:hlink>
      <a:folHlink>
        <a:srgbClr val="8D99AE"/>
      </a:folHlink>
    </a:clrScheme>
    <a:fontScheme name="Depression Screen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Depression Detection from Interview Speech: Final Model</dc:title>
  <dc:subject>PptxGenJS Presentation</dc:subject>
  <dc:creator>Vivan</dc:creator>
  <cp:lastModifiedBy>Vivan</cp:lastModifiedBy>
  <cp:revision>1</cp:revision>
  <dcterms:created xsi:type="dcterms:W3CDTF">2026-10-27T10:33:33Z</dcterms:created>
  <dcterms:modified xsi:type="dcterms:W3CDTF">2026-10-27T10:33:33Z</dcterms:modified>
</cp:coreProperties>
</file>