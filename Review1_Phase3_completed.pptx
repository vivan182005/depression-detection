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7" r:id="rId6"/>
    <p:sldId id="266" r:id="rId7"/>
    <p:sldId id="260" r:id="rId8"/>
    <p:sldId id="261" r:id="rId9"/>
    <p:sldId id="262" r:id="rId10"/>
    <p:sldId id="263" r:id="rId11"/>
    <p:sldId id="269" r:id="rId12"/>
    <p:sldId id="268" r:id="rId13"/>
    <p:sldId id="264" r:id="rId14"/>
    <p:sldId id="265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jb24/3oXfEol3mrTMEca2WFcYD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85cdd001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g3785cdd001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g3785cdd0013_0_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Project</a:t>
            </a:r>
            <a:endParaRPr/>
          </a:p>
        </p:txBody>
      </p:sp>
      <p:sp>
        <p:nvSpPr>
          <p:cNvPr id="105" name="Google Shape;105;g3785cdd0013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785cdd0013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g3785cdd0013_0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" name="Google Shape;113;g3785cdd0013_0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785cdd0013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g3785cdd0013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g3785cdd0013_0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85cdd0013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3785cdd0013_0_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g3785cdd0013_0_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C5FDCC8D-A68A-6145-0F94-085AAC8AC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85cdd0013_0_28:notes">
            <a:extLst>
              <a:ext uri="{FF2B5EF4-FFF2-40B4-BE49-F238E27FC236}">
                <a16:creationId xmlns:a16="http://schemas.microsoft.com/office/drawing/2014/main" id="{551AA50C-E357-95C2-F1E8-4D970BB342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3785cdd0013_0_28:notes">
            <a:extLst>
              <a:ext uri="{FF2B5EF4-FFF2-40B4-BE49-F238E27FC236}">
                <a16:creationId xmlns:a16="http://schemas.microsoft.com/office/drawing/2014/main" id="{87C8A64B-DD3E-935B-587D-B48F5C4960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g3785cdd0013_0_28:notes">
            <a:extLst>
              <a:ext uri="{FF2B5EF4-FFF2-40B4-BE49-F238E27FC236}">
                <a16:creationId xmlns:a16="http://schemas.microsoft.com/office/drawing/2014/main" id="{AA665F95-B5AF-F149-5357-F7B508561B3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6252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B2BDCC90-492C-8166-2902-37B119605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85cdd0013_0_28:notes">
            <a:extLst>
              <a:ext uri="{FF2B5EF4-FFF2-40B4-BE49-F238E27FC236}">
                <a16:creationId xmlns:a16="http://schemas.microsoft.com/office/drawing/2014/main" id="{BF24FFD6-0E9B-FA9D-83BE-4B43F02C4B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3785cdd0013_0_28:notes">
            <a:extLst>
              <a:ext uri="{FF2B5EF4-FFF2-40B4-BE49-F238E27FC236}">
                <a16:creationId xmlns:a16="http://schemas.microsoft.com/office/drawing/2014/main" id="{0E5F0CF9-0A35-25DC-29E0-CB385CFD6F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g3785cdd0013_0_28:notes">
            <a:extLst>
              <a:ext uri="{FF2B5EF4-FFF2-40B4-BE49-F238E27FC236}">
                <a16:creationId xmlns:a16="http://schemas.microsoft.com/office/drawing/2014/main" id="{9378907F-B7E8-9FAE-5439-05B002E8D95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056578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785cdd0013_0_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g3785cdd0013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785cdd0013_0_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1" name="Google Shape;151;g3785cdd0013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85cdd0013_0_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g3785cdd0013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785cdd0013_0_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9" name="Google Shape;169;g3785cdd0013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785cdd0013_0_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8" name="Google Shape;178;g3785cdd0013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785cdd0013_0_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7" name="Google Shape;187;g3785cdd0013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5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2" name="Google Shape;32;p15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7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7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7" name="Google Shape;47;p17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8"/>
          <p:cNvSpPr txBox="1">
            <a:spLocks noGrp="1"/>
          </p:cNvSpPr>
          <p:nvPr>
            <p:ph type="body" idx="1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9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body" idx="2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0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1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1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1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2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2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>
            <a:spLocks noGrp="1"/>
          </p:cNvSpPr>
          <p:nvPr>
            <p:ph type="pic" idx="2"/>
          </p:nvPr>
        </p:nvSpPr>
        <p:spPr>
          <a:xfrm>
            <a:off x="15" y="0"/>
            <a:ext cx="12191985" cy="4915076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22"/>
          <p:cNvSpPr txBox="1">
            <a:spLocks noGrp="1"/>
          </p:cNvSpPr>
          <p:nvPr>
            <p:ph type="body" idx="1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4" name="Google Shape;84;p2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0" name="Google Shape;90;p2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4"/>
          <p:cNvSpPr txBox="1">
            <a:spLocks noGrp="1"/>
          </p:cNvSpPr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4"/>
          <p:cNvSpPr txBox="1">
            <a:spLocks noGrp="1"/>
          </p:cNvSpPr>
          <p:nvPr>
            <p:ph type="body" idx="1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8" name="Google Shape;98;p2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3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13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85cdd0013_0_0"/>
          <p:cNvSpPr/>
          <p:nvPr/>
        </p:nvSpPr>
        <p:spPr>
          <a:xfrm>
            <a:off x="2387991" y="990600"/>
            <a:ext cx="7924800" cy="13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SzPts val="2800"/>
            </a:pPr>
            <a:r>
              <a:rPr lang="en-US" sz="28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UE23CS441A  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– Capstone Project Phase – </a:t>
            </a:r>
            <a:r>
              <a:rPr lang="en-US" sz="28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2800" b="0" i="0" u="none" strike="noStrike" cap="none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Progress Review # 1</a:t>
            </a:r>
            <a:endParaRPr sz="2800" b="0" i="0" u="none" strike="noStrike" cap="none" dirty="0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9" name="Google Shape;109;g3785cdd0013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06;p1">
            <a:extLst>
              <a:ext uri="{FF2B5EF4-FFF2-40B4-BE49-F238E27FC236}">
                <a16:creationId xmlns:a16="http://schemas.microsoft.com/office/drawing/2014/main" id="{59F917C7-0C17-D9A2-F5CA-196A2EA7A136}"/>
              </a:ext>
            </a:extLst>
          </p:cNvPr>
          <p:cNvSpPr txBox="1"/>
          <p:nvPr/>
        </p:nvSpPr>
        <p:spPr>
          <a:xfrm>
            <a:off x="2444262" y="3354482"/>
            <a:ext cx="8442158" cy="2512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chemeClr val="dk1"/>
              </a:buClr>
              <a:buSzPts val="2400"/>
            </a:pPr>
            <a:r>
              <a:rPr lang="en-IN" sz="2400" dirty="0">
                <a:solidFill>
                  <a:schemeClr val="accent2"/>
                </a:solidFill>
                <a:latin typeface="Trebuchet MS" panose="020B0603020202020204" pitchFamily="34" charset="0"/>
              </a:rPr>
              <a:t>Project Title : Detecting Depression using vocal cues Project ID : PW26_CBH_04</a:t>
            </a:r>
          </a:p>
          <a:p>
            <a:pPr lvl="0">
              <a:buClr>
                <a:schemeClr val="dk1"/>
              </a:buClr>
              <a:buSzPts val="2400"/>
            </a:pPr>
            <a:r>
              <a:rPr lang="en-IN" sz="2400" dirty="0">
                <a:solidFill>
                  <a:schemeClr val="accent2"/>
                </a:solidFill>
                <a:latin typeface="Trebuchet MS" panose="020B0603020202020204" pitchFamily="34" charset="0"/>
              </a:rPr>
              <a:t>Project Guide : Ms. </a:t>
            </a:r>
            <a:r>
              <a:rPr lang="en-IN" sz="2400" dirty="0" err="1">
                <a:solidFill>
                  <a:schemeClr val="accent2"/>
                </a:solidFill>
                <a:latin typeface="Trebuchet MS" panose="020B0603020202020204" pitchFamily="34" charset="0"/>
              </a:rPr>
              <a:t>Chandravva</a:t>
            </a:r>
            <a:r>
              <a:rPr lang="en-IN" sz="2400" dirty="0">
                <a:solidFill>
                  <a:schemeClr val="accent2"/>
                </a:solidFill>
                <a:latin typeface="Trebuchet MS" panose="020B0603020202020204" pitchFamily="34" charset="0"/>
              </a:rPr>
              <a:t> </a:t>
            </a:r>
            <a:r>
              <a:rPr lang="en-IN" sz="2400" dirty="0" err="1">
                <a:solidFill>
                  <a:schemeClr val="accent2"/>
                </a:solidFill>
                <a:latin typeface="Trebuchet MS" panose="020B0603020202020204" pitchFamily="34" charset="0"/>
              </a:rPr>
              <a:t>Hebbi</a:t>
            </a:r>
            <a:r>
              <a:rPr lang="en-IN" sz="2400" dirty="0">
                <a:solidFill>
                  <a:schemeClr val="accent2"/>
                </a:solidFill>
                <a:latin typeface="Trebuchet MS" panose="020B0603020202020204" pitchFamily="34" charset="0"/>
              </a:rPr>
              <a:t> </a:t>
            </a:r>
          </a:p>
          <a:p>
            <a:pPr lvl="0">
              <a:buClr>
                <a:schemeClr val="dk1"/>
              </a:buClr>
              <a:buSzPts val="2400"/>
            </a:pPr>
            <a:r>
              <a:rPr lang="en-IN" sz="2400" dirty="0">
                <a:solidFill>
                  <a:schemeClr val="accent2"/>
                </a:solidFill>
                <a:latin typeface="Trebuchet MS" panose="020B0603020202020204" pitchFamily="34" charset="0"/>
              </a:rPr>
              <a:t>Project Team : Srujan J, Vishruth Rallapalli, Yuvraj Rao,</a:t>
            </a:r>
          </a:p>
          <a:p>
            <a:pPr lvl="0">
              <a:buClr>
                <a:schemeClr val="dk1"/>
              </a:buClr>
              <a:buSzPts val="2400"/>
            </a:pPr>
            <a:r>
              <a:rPr lang="en-IN" sz="2400" dirty="0">
                <a:solidFill>
                  <a:schemeClr val="accent2"/>
                </a:solidFill>
                <a:latin typeface="Trebuchet MS" panose="020B0603020202020204" pitchFamily="34" charset="0"/>
              </a:rPr>
              <a:t>                       Vivan Jeevan Naik</a:t>
            </a:r>
            <a:endParaRPr sz="2400" b="0" i="0" u="none" strike="noStrike" cap="none" dirty="0">
              <a:solidFill>
                <a:schemeClr val="accent2"/>
              </a:solidFill>
              <a:latin typeface="Trebuchet MS" panose="020B0603020202020204" pitchFamily="34" charset="0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785cdd0013_0_8"/>
          <p:cNvSpPr txBox="1"/>
          <p:nvPr/>
        </p:nvSpPr>
        <p:spPr>
          <a:xfrm>
            <a:off x="548640" y="1508760"/>
            <a:ext cx="1106424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50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sz="1900" b="1" dirty="0">
                <a:solidFill>
                  <a:srgbClr val="1A1A1A"/>
                </a:solidFill>
                <a:latin typeface="Trebuchet MS"/>
              </a:rPr>
              <a:t>ABSTRACT</a:t>
            </a:r>
            <a:endParaRPr sz="1900" b="0" i="0" u="none" strike="noStrike" cap="none" dirty="0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900" b="0" dirty="0">
                <a:solidFill>
                  <a:srgbClr val="1A1A1A"/>
                </a:solidFill>
                <a:latin typeface="Trebuchet MS"/>
              </a:rPr>
              <a:t>•  Participant-independent multimodal ML screening prototype for depression detection and severity assessment.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900" b="0" dirty="0">
                <a:solidFill>
                  <a:srgbClr val="1A1A1A"/>
                </a:solidFill>
                <a:latin typeface="Trebuchet MS"/>
              </a:rPr>
              <a:t>•  Uses DAIC-WOZ semi-structured clinical interview audio recordings and transcripts.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900" b="0" dirty="0">
                <a:solidFill>
                  <a:srgbClr val="1A1A1A"/>
                </a:solidFill>
                <a:latin typeface="Trebuchet MS"/>
              </a:rPr>
              <a:t>•  Three complementary streams — Acoustic (154D), Wav2Vec 2.0 (768D), BERT (768D) — fused into a 1,690-dimensional representation.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900" b="1" dirty="0">
                <a:solidFill>
                  <a:srgbClr val="1A1A1A"/>
                </a:solidFill>
                <a:latin typeface="Trebuchet MS"/>
              </a:rPr>
              <a:t>•  </a:t>
            </a:r>
            <a:r>
              <a:rPr sz="1900" b="1" dirty="0" err="1">
                <a:solidFill>
                  <a:srgbClr val="1A1A1A"/>
                </a:solidFill>
                <a:latin typeface="Trebuchet MS"/>
              </a:rPr>
              <a:t>CompactTriModalMLP</a:t>
            </a:r>
            <a:r>
              <a:rPr sz="1900" b="0" dirty="0">
                <a:solidFill>
                  <a:srgbClr val="1A1A1A"/>
                </a:solidFill>
                <a:latin typeface="Trebuchet MS"/>
              </a:rPr>
              <a:t> simultaneously predicts 3-class severity, binary depression status, and continuous PHQ-8 score.</a:t>
            </a:r>
            <a:endParaRPr lang="en-US" sz="1900" b="0" dirty="0">
              <a:solidFill>
                <a:srgbClr val="1A1A1A"/>
              </a:solidFill>
              <a:latin typeface="Trebuchet MS"/>
            </a:endParaRP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endParaRPr sz="1900" b="0" dirty="0">
              <a:solidFill>
                <a:srgbClr val="1A1A1A"/>
              </a:solidFill>
              <a:latin typeface="Trebuchet MS"/>
            </a:endParaRP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900" b="1" dirty="0">
                <a:solidFill>
                  <a:srgbClr val="1A1A1A"/>
                </a:solidFill>
                <a:latin typeface="Trebuchet MS"/>
              </a:rPr>
              <a:t>SCOPE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900" b="0" dirty="0">
                <a:solidFill>
                  <a:srgbClr val="1A1A1A"/>
                </a:solidFill>
                <a:latin typeface="Trebuchet MS"/>
              </a:rPr>
              <a:t>•  A preliminary depression screening and research decision-support prototype.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900" b="1" dirty="0">
                <a:solidFill>
                  <a:srgbClr val="1A1A1A"/>
                </a:solidFill>
                <a:latin typeface="Trebuchet MS"/>
              </a:rPr>
              <a:t>•  Not an autonomous diagnostic system.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900" b="0" dirty="0">
                <a:solidFill>
                  <a:srgbClr val="1A1A1A"/>
                </a:solidFill>
                <a:latin typeface="Trebuchet MS"/>
              </a:rPr>
              <a:t>•  Designed to assist clinicians by extracting objective vocal and linguistic cues.</a:t>
            </a:r>
          </a:p>
        </p:txBody>
      </p:sp>
      <p:sp>
        <p:nvSpPr>
          <p:cNvPr id="116" name="Google Shape;116;g3785cdd0013_0_8"/>
          <p:cNvSpPr txBox="1"/>
          <p:nvPr/>
        </p:nvSpPr>
        <p:spPr>
          <a:xfrm>
            <a:off x="4191000" y="699952"/>
            <a:ext cx="647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Abstract and Scope</a:t>
            </a:r>
            <a:endParaRPr sz="24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17" name="Google Shape;117;g3785cdd0013_0_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785cdd0013_0_8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200"/>
            </a:pPr>
            <a:r>
              <a:rPr lang="en-IN" sz="1200" dirty="0">
                <a:solidFill>
                  <a:schemeClr val="tx1"/>
                </a:solidFill>
                <a:latin typeface="Trebuchet MS" panose="020B0603020202020204" pitchFamily="34" charset="0"/>
              </a:rPr>
              <a:t>Detecting Depression using vocal cues</a:t>
            </a:r>
            <a:endParaRPr sz="12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785cdd0013_0_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err="1"/>
              <a:t>SrujanJ_VishruthRallapalli_YuvrajRao_VivanJeevanNaik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85cdd0013_0_18"/>
          <p:cNvSpPr txBox="1"/>
          <p:nvPr/>
        </p:nvSpPr>
        <p:spPr>
          <a:xfrm>
            <a:off x="548640" y="1508760"/>
            <a:ext cx="1106424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eaLnBrk="0" fontAlgn="base" hangingPunct="0">
              <a:spcBef>
                <a:spcPts val="100"/>
              </a:spcBef>
              <a:spcAft>
                <a:spcPts val="500"/>
              </a:spcAft>
              <a:buClrTx/>
              <a:buFontTx/>
              <a:buNone/>
            </a:pPr>
            <a:r>
              <a:rPr sz="1900" b="1" dirty="0">
                <a:solidFill>
                  <a:srgbClr val="1A1A1A"/>
                </a:solidFill>
                <a:latin typeface="Trebuchet MS"/>
              </a:rPr>
              <a:t>PROBLEM STATEMENT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900" b="0" dirty="0">
                <a:solidFill>
                  <a:srgbClr val="1A1A1A"/>
                </a:solidFill>
                <a:latin typeface="Trebuchet MS"/>
              </a:rPr>
              <a:t>•  Depression assessment commonly relies on clinical interviews and questionnaire-based evaluation.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900" b="0" dirty="0">
                <a:solidFill>
                  <a:srgbClr val="1A1A1A"/>
                </a:solidFill>
                <a:latin typeface="Trebuchet MS"/>
              </a:rPr>
              <a:t>•  Vocal and linguistic characteristics provide additional, objective information about mental state.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900" b="0" dirty="0">
                <a:solidFill>
                  <a:srgbClr val="1A1A1A"/>
                </a:solidFill>
                <a:latin typeface="Trebuchet MS"/>
              </a:rPr>
              <a:t>•  Challenge: automatically identify depression-related patterns from how a person speaks and what they say.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900" b="1" dirty="0">
                <a:solidFill>
                  <a:srgbClr val="1A1A1A"/>
                </a:solidFill>
                <a:latin typeface="Trebuchet MS"/>
              </a:rPr>
              <a:t>OUR OBJECTIVE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900" b="0" dirty="0">
                <a:solidFill>
                  <a:srgbClr val="1A1A1A"/>
                </a:solidFill>
                <a:latin typeface="Trebuchet MS"/>
              </a:rPr>
              <a:t>•  Develop a multimodal ML system for participant-level depression screening.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900" b="0" dirty="0">
                <a:solidFill>
                  <a:srgbClr val="1A1A1A"/>
                </a:solidFill>
                <a:latin typeface="Trebuchet MS"/>
              </a:rPr>
              <a:t>•  Combine acoustic, speech and textual information to improve prediction of severity.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900" b="1" dirty="0">
                <a:solidFill>
                  <a:srgbClr val="1A1A1A"/>
                </a:solidFill>
                <a:latin typeface="Trebuchet MS"/>
              </a:rPr>
              <a:t>CLINICAL TARGET — PHQ-8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900" b="0" dirty="0">
                <a:solidFill>
                  <a:srgbClr val="1A1A1A"/>
                </a:solidFill>
                <a:latin typeface="Trebuchet MS"/>
              </a:rPr>
              <a:t>•  0–9 → Minimal / Mild      10–14 → Moderate      15–24 → Moderately Severe / Severe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900" b="1" dirty="0">
                <a:solidFill>
                  <a:srgbClr val="1A1A1A"/>
                </a:solidFill>
                <a:latin typeface="Trebuchet MS"/>
              </a:rPr>
              <a:t>KEY IDEA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900" b="1" dirty="0">
                <a:solidFill>
                  <a:srgbClr val="1A1A1A"/>
                </a:solidFill>
                <a:latin typeface="Trebuchet MS"/>
              </a:rPr>
              <a:t>•  “Combine what a person says with how they say it.”</a:t>
            </a:r>
          </a:p>
        </p:txBody>
      </p:sp>
      <p:sp>
        <p:nvSpPr>
          <p:cNvPr id="126" name="Google Shape;126;g3785cdd0013_0_18"/>
          <p:cNvSpPr txBox="1"/>
          <p:nvPr/>
        </p:nvSpPr>
        <p:spPr>
          <a:xfrm>
            <a:off x="4191000" y="1025102"/>
            <a:ext cx="647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Problem Statement and Motivation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g3785cdd0013_0_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8;g3785cdd0013_0_8">
            <a:extLst>
              <a:ext uri="{FF2B5EF4-FFF2-40B4-BE49-F238E27FC236}">
                <a16:creationId xmlns:a16="http://schemas.microsoft.com/office/drawing/2014/main" id="{FF15CA9C-9CE5-7F6D-DA66-FF9B6A058270}"/>
              </a:ext>
            </a:extLst>
          </p:cNvPr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200"/>
            </a:pPr>
            <a:r>
              <a:rPr lang="en-IN" sz="1200" dirty="0">
                <a:solidFill>
                  <a:schemeClr val="tx1"/>
                </a:solidFill>
                <a:latin typeface="Trebuchet MS" panose="020B0603020202020204" pitchFamily="34" charset="0"/>
              </a:rPr>
              <a:t>Detecting Depression using vocal cues</a:t>
            </a:r>
            <a:endParaRPr sz="12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19;g3785cdd0013_0_8">
            <a:extLst>
              <a:ext uri="{FF2B5EF4-FFF2-40B4-BE49-F238E27FC236}">
                <a16:creationId xmlns:a16="http://schemas.microsoft.com/office/drawing/2014/main" id="{31680534-DED8-9CD4-8313-D044C68B344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err="1"/>
              <a:t>SrujanJ_VishruthRallapalli_YuvrajRao_VivanJeevanNaik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785cdd0013_0_28"/>
          <p:cNvSpPr txBox="1"/>
          <p:nvPr/>
        </p:nvSpPr>
        <p:spPr>
          <a:xfrm>
            <a:off x="457200" y="1572768"/>
            <a:ext cx="612648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900" b="1" dirty="0">
                <a:solidFill>
                  <a:srgbClr val="1A1A1A"/>
                </a:solidFill>
                <a:latin typeface="Trebuchet MS"/>
              </a:rPr>
              <a:t>DATASET: DAIC-WOZ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900" b="0" dirty="0">
                <a:solidFill>
                  <a:srgbClr val="1A1A1A"/>
                </a:solidFill>
                <a:latin typeface="Trebuchet MS"/>
              </a:rPr>
              <a:t>•  Development set: 183 interview sessions (113 Male / 70 Female).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900" b="1" dirty="0">
                <a:solidFill>
                  <a:srgbClr val="1A1A1A"/>
                </a:solidFill>
                <a:latin typeface="Trebuchet MS"/>
              </a:rPr>
              <a:t>SEVERITY DISTRIBUTION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900" b="0" dirty="0">
                <a:solidFill>
                  <a:srgbClr val="1A1A1A"/>
                </a:solidFill>
                <a:latin typeface="Trebuchet MS"/>
              </a:rPr>
              <a:t>•  Minimal / Mild: 154 sessions (84.15%)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900" b="0" dirty="0">
                <a:solidFill>
                  <a:srgbClr val="1A1A1A"/>
                </a:solidFill>
                <a:latin typeface="Trebuchet MS"/>
              </a:rPr>
              <a:t>•  Moderate: 20 sessions (10.93%)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900" b="0" dirty="0">
                <a:solidFill>
                  <a:srgbClr val="1A1A1A"/>
                </a:solidFill>
                <a:latin typeface="Trebuchet MS"/>
              </a:rPr>
              <a:t>•  Moderately Severe / Severe: 9 sessions (4.92%)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900" b="1" dirty="0">
                <a:solidFill>
                  <a:srgbClr val="1A1A1A"/>
                </a:solidFill>
                <a:latin typeface="Trebuchet MS"/>
              </a:rPr>
              <a:t>DATA PARTITIONS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900" b="0" dirty="0">
                <a:solidFill>
                  <a:srgbClr val="1A1A1A"/>
                </a:solidFill>
                <a:latin typeface="Trebuchet MS"/>
              </a:rPr>
              <a:t>•  Training 116 · Validation 30 · Test Holdout 37 · Reserved Unseen 9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900" b="1" dirty="0">
                <a:solidFill>
                  <a:srgbClr val="1A1A1A"/>
                </a:solidFill>
                <a:latin typeface="Trebuchet MS"/>
              </a:rPr>
              <a:t>KEY CHALLENGE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900" b="0" dirty="0">
                <a:solidFill>
                  <a:srgbClr val="1A1A1A"/>
                </a:solidFill>
                <a:latin typeface="Trebuchet MS"/>
              </a:rPr>
              <a:t>•  Highly imbalanced — 84.15% Minimal / Mild; only 9 severe cases in the corpus.</a:t>
            </a:r>
          </a:p>
        </p:txBody>
      </p:sp>
      <p:sp>
        <p:nvSpPr>
          <p:cNvPr id="136" name="Google Shape;136;g3785cdd0013_0_28"/>
          <p:cNvSpPr txBox="1"/>
          <p:nvPr/>
        </p:nvSpPr>
        <p:spPr>
          <a:xfrm>
            <a:off x="2057400" y="990600"/>
            <a:ext cx="86868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Dataset and Data Distribution</a:t>
            </a:r>
            <a:endParaRPr sz="2400" b="0" i="0" u="none" strike="noStrike" cap="none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37" name="Google Shape;137;g3785cdd0013_0_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8;g3785cdd0013_0_8">
            <a:extLst>
              <a:ext uri="{FF2B5EF4-FFF2-40B4-BE49-F238E27FC236}">
                <a16:creationId xmlns:a16="http://schemas.microsoft.com/office/drawing/2014/main" id="{849B075E-F36F-5490-A965-776FC73F1A87}"/>
              </a:ext>
            </a:extLst>
          </p:cNvPr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200"/>
            </a:pPr>
            <a:r>
              <a:rPr lang="en-IN" sz="1200" dirty="0">
                <a:solidFill>
                  <a:schemeClr val="tx1"/>
                </a:solidFill>
                <a:latin typeface="Trebuchet MS" panose="020B0603020202020204" pitchFamily="34" charset="0"/>
              </a:rPr>
              <a:t>Detecting Depression using vocal cues</a:t>
            </a:r>
            <a:endParaRPr sz="12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19;g3785cdd0013_0_8">
            <a:extLst>
              <a:ext uri="{FF2B5EF4-FFF2-40B4-BE49-F238E27FC236}">
                <a16:creationId xmlns:a16="http://schemas.microsoft.com/office/drawing/2014/main" id="{C4842AD8-CC94-B00B-0895-21934B2EAEE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err="1"/>
              <a:t>SrujanJ_VishruthRallapalli_YuvrajRao_VivanJeevanNaik</a:t>
            </a:r>
            <a:endParaRPr dirty="0"/>
          </a:p>
        </p:txBody>
      </p:sp>
      <p:pic>
        <p:nvPicPr>
          <p:cNvPr id="138" name="Picture 137" descr="graph1_distributio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1965960"/>
            <a:ext cx="5074920" cy="283734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2011EB09-4739-BC44-A136-F3982CF2D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785cdd0013_0_28">
            <a:extLst>
              <a:ext uri="{FF2B5EF4-FFF2-40B4-BE49-F238E27FC236}">
                <a16:creationId xmlns:a16="http://schemas.microsoft.com/office/drawing/2014/main" id="{C1FA518C-FC1F-89C0-E9A1-B82FBB490B44}"/>
              </a:ext>
            </a:extLst>
          </p:cNvPr>
          <p:cNvSpPr txBox="1"/>
          <p:nvPr/>
        </p:nvSpPr>
        <p:spPr>
          <a:xfrm>
            <a:off x="548640" y="1508760"/>
            <a:ext cx="1106424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900" b="1" dirty="0">
                <a:solidFill>
                  <a:srgbClr val="1A1A1A"/>
                </a:solidFill>
                <a:latin typeface="Trebuchet MS"/>
              </a:rPr>
              <a:t>PHASE 1 / 2 BASELINE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900" b="0" dirty="0">
                <a:solidFill>
                  <a:srgbClr val="1A1A1A"/>
                </a:solidFill>
                <a:latin typeface="Trebuchet MS"/>
              </a:rPr>
              <a:t>•  Basic MFCC extraction (</a:t>
            </a:r>
            <a:r>
              <a:rPr sz="1900" b="0" dirty="0" err="1">
                <a:solidFill>
                  <a:srgbClr val="1A1A1A"/>
                </a:solidFill>
                <a:latin typeface="Trebuchet MS"/>
              </a:rPr>
              <a:t>Librosa</a:t>
            </a:r>
            <a:r>
              <a:rPr sz="1900" b="0" dirty="0">
                <a:solidFill>
                  <a:srgbClr val="1A1A1A"/>
                </a:solidFill>
                <a:latin typeface="Trebuchet MS"/>
              </a:rPr>
              <a:t>) and pitch tracking — an acoustic-focused pipeline.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900" b="0" dirty="0">
                <a:solidFill>
                  <a:srgbClr val="1A1A1A"/>
                </a:solidFill>
                <a:latin typeface="Trebuchet MS"/>
              </a:rPr>
              <a:t>•  847,749-parameter recurrent </a:t>
            </a:r>
            <a:r>
              <a:rPr sz="1900" b="0" dirty="0" err="1">
                <a:solidFill>
                  <a:srgbClr val="1A1A1A"/>
                </a:solidFill>
                <a:latin typeface="Trebuchet MS"/>
              </a:rPr>
              <a:t>BiLSTM</a:t>
            </a:r>
            <a:r>
              <a:rPr sz="1900" b="0" dirty="0">
                <a:solidFill>
                  <a:srgbClr val="1A1A1A"/>
                </a:solidFill>
                <a:latin typeface="Trebuchet MS"/>
              </a:rPr>
              <a:t> with modality gating.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900" b="1" dirty="0">
                <a:solidFill>
                  <a:srgbClr val="1A1A1A"/>
                </a:solidFill>
                <a:latin typeface="Trebuchet MS"/>
              </a:rPr>
              <a:t>PROBLEM IDENTIFIED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900" b="0" dirty="0">
                <a:solidFill>
                  <a:srgbClr val="1A1A1A"/>
                </a:solidFill>
                <a:latin typeface="Trebuchet MS"/>
              </a:rPr>
              <a:t>•  </a:t>
            </a:r>
            <a:r>
              <a:rPr sz="1900" b="0" dirty="0" err="1">
                <a:solidFill>
                  <a:srgbClr val="1A1A1A"/>
                </a:solidFill>
                <a:latin typeface="Trebuchet MS"/>
              </a:rPr>
              <a:t>BiLSTM</a:t>
            </a:r>
            <a:r>
              <a:rPr sz="1900" b="0" dirty="0">
                <a:solidFill>
                  <a:srgbClr val="1A1A1A"/>
                </a:solidFill>
                <a:latin typeface="Trebuchet MS"/>
              </a:rPr>
              <a:t> severely overfit the small cohort and collapsed to the 84% majority class.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900" b="0" dirty="0">
                <a:solidFill>
                  <a:srgbClr val="1A1A1A"/>
                </a:solidFill>
                <a:latin typeface="Trebuchet MS"/>
              </a:rPr>
              <a:t>•  Holdout accuracy 83.78%; recall for Moderate &amp; Severe classes 0.00%.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900" b="1" dirty="0">
                <a:solidFill>
                  <a:srgbClr val="1A1A1A"/>
                </a:solidFill>
                <a:latin typeface="Trebuchet MS"/>
              </a:rPr>
              <a:t>IMPROVEMENTS IN FINAL MODEL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900" b="0" dirty="0">
                <a:solidFill>
                  <a:srgbClr val="1A1A1A"/>
                </a:solidFill>
                <a:latin typeface="Trebuchet MS"/>
              </a:rPr>
              <a:t>•  Participant-only speech filtering (removed interviewer / Ellie speech).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900" b="0" dirty="0">
                <a:solidFill>
                  <a:srgbClr val="1A1A1A"/>
                </a:solidFill>
                <a:latin typeface="Trebuchet MS"/>
              </a:rPr>
              <a:t>•  Tri-modal feature fusion: Acoustic + Wav2Vec 2.0 + BERT.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900" b="0" dirty="0">
                <a:solidFill>
                  <a:srgbClr val="1A1A1A"/>
                </a:solidFill>
                <a:latin typeface="Trebuchet MS"/>
              </a:rPr>
              <a:t>•  Compact MLP architecture: 847,749 → 225,413 parameters.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900" b="0" dirty="0">
                <a:solidFill>
                  <a:srgbClr val="1A1A1A"/>
                </a:solidFill>
                <a:latin typeface="Trebuchet MS"/>
              </a:rPr>
              <a:t>•  Leak-free 5-fold Stratified Group Split (participant isolation + minority representation).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900" b="0" dirty="0">
                <a:solidFill>
                  <a:srgbClr val="1A1A1A"/>
                </a:solidFill>
                <a:latin typeface="Trebuchet MS"/>
              </a:rPr>
              <a:t>•  Macro-F1 model selection (avoids majority-class-only models).</a:t>
            </a:r>
          </a:p>
        </p:txBody>
      </p:sp>
      <p:pic>
        <p:nvPicPr>
          <p:cNvPr id="137" name="Google Shape;137;g3785cdd0013_0_28">
            <a:extLst>
              <a:ext uri="{FF2B5EF4-FFF2-40B4-BE49-F238E27FC236}">
                <a16:creationId xmlns:a16="http://schemas.microsoft.com/office/drawing/2014/main" id="{E603D336-3AAC-988D-F382-786D1ECCFFA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8;g3785cdd0013_0_8">
            <a:extLst>
              <a:ext uri="{FF2B5EF4-FFF2-40B4-BE49-F238E27FC236}">
                <a16:creationId xmlns:a16="http://schemas.microsoft.com/office/drawing/2014/main" id="{B55DBB96-94CA-0F5D-029D-BE1EA7F998EB}"/>
              </a:ext>
            </a:extLst>
          </p:cNvPr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200"/>
            </a:pPr>
            <a:r>
              <a:rPr lang="en-IN" sz="1200" dirty="0">
                <a:solidFill>
                  <a:schemeClr val="tx1"/>
                </a:solidFill>
                <a:latin typeface="Trebuchet MS" panose="020B0603020202020204" pitchFamily="34" charset="0"/>
              </a:rPr>
              <a:t>Detecting Depression using vocal cues</a:t>
            </a:r>
            <a:endParaRPr sz="12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19;g3785cdd0013_0_8">
            <a:extLst>
              <a:ext uri="{FF2B5EF4-FFF2-40B4-BE49-F238E27FC236}">
                <a16:creationId xmlns:a16="http://schemas.microsoft.com/office/drawing/2014/main" id="{DE6CAF0C-0EAE-693D-9FD9-3A3EC364184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err="1"/>
              <a:t>SrujanJ_VishruthRallapalli_YuvrajRao_VivanJeevanNaik</a:t>
            </a:r>
            <a:endParaRPr dirty="0"/>
          </a:p>
        </p:txBody>
      </p:sp>
      <p:sp>
        <p:nvSpPr>
          <p:cNvPr id="5" name="Google Shape;136;g3785cdd0013_0_28">
            <a:extLst>
              <a:ext uri="{FF2B5EF4-FFF2-40B4-BE49-F238E27FC236}">
                <a16:creationId xmlns:a16="http://schemas.microsoft.com/office/drawing/2014/main" id="{AD7F2BDE-80CE-A989-A0CA-211670677736}"/>
              </a:ext>
            </a:extLst>
          </p:cNvPr>
          <p:cNvSpPr txBox="1"/>
          <p:nvPr/>
        </p:nvSpPr>
        <p:spPr>
          <a:xfrm>
            <a:off x="2057400" y="990600"/>
            <a:ext cx="86868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Previous Work and Improvements</a:t>
            </a:r>
            <a:endParaRPr sz="2400" b="0" i="0" u="none" strike="noStrike" cap="none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640012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6F4403C0-F0C7-698B-B54C-13004BDAC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785cdd0013_0_28">
            <a:extLst>
              <a:ext uri="{FF2B5EF4-FFF2-40B4-BE49-F238E27FC236}">
                <a16:creationId xmlns:a16="http://schemas.microsoft.com/office/drawing/2014/main" id="{C64938A6-91A3-7B40-075D-3C73B6B244C5}"/>
              </a:ext>
            </a:extLst>
          </p:cNvPr>
          <p:cNvSpPr txBox="1"/>
          <p:nvPr/>
        </p:nvSpPr>
        <p:spPr>
          <a:xfrm>
            <a:off x="548640" y="1508760"/>
            <a:ext cx="1106424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900" b="1" dirty="0">
                <a:solidFill>
                  <a:srgbClr val="1A1A1A"/>
                </a:solidFill>
                <a:latin typeface="Trebuchet MS"/>
              </a:rPr>
              <a:t>SYSTEM PIPELINE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900" b="0" dirty="0">
                <a:solidFill>
                  <a:srgbClr val="1A1A1A"/>
                </a:solidFill>
                <a:latin typeface="Trebuchet MS"/>
              </a:rPr>
              <a:t>•  DAIC-WOZ dataset → Audio (.wav) + Transcript (.csv).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900" b="0" dirty="0">
                <a:solidFill>
                  <a:srgbClr val="1A1A1A"/>
                </a:solidFill>
                <a:latin typeface="Trebuchet MS"/>
              </a:rPr>
              <a:t>•  Preprocessing: 16 kHz resampling · silence trimming · participant-only transcript filtering.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900" b="0" dirty="0">
                <a:solidFill>
                  <a:srgbClr val="1A1A1A"/>
                </a:solidFill>
                <a:latin typeface="Trebuchet MS"/>
              </a:rPr>
              <a:t>•  Three parallel feature branches: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900" b="0" dirty="0">
                <a:solidFill>
                  <a:srgbClr val="1A1A1A"/>
                </a:solidFill>
                <a:latin typeface="Trebuchet MS"/>
              </a:rPr>
              <a:t>        –  Acoustic — 154D  (</a:t>
            </a:r>
            <a:r>
              <a:rPr sz="1900" b="0" dirty="0" err="1">
                <a:solidFill>
                  <a:srgbClr val="1A1A1A"/>
                </a:solidFill>
                <a:latin typeface="Trebuchet MS"/>
              </a:rPr>
              <a:t>eGeMAPS</a:t>
            </a:r>
            <a:r>
              <a:rPr sz="1900" b="0" dirty="0">
                <a:solidFill>
                  <a:srgbClr val="1A1A1A"/>
                </a:solidFill>
                <a:latin typeface="Trebuchet MS"/>
              </a:rPr>
              <a:t>, MFCC, prosodic features)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900" b="0" dirty="0">
                <a:solidFill>
                  <a:srgbClr val="1A1A1A"/>
                </a:solidFill>
                <a:latin typeface="Trebuchet MS"/>
              </a:rPr>
              <a:t>        –  Wav2Vec 2.0 — 768D  (contextual speech embedding)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900" b="0" dirty="0">
                <a:solidFill>
                  <a:srgbClr val="1A1A1A"/>
                </a:solidFill>
                <a:latin typeface="Trebuchet MS"/>
              </a:rPr>
              <a:t>        –  BERT — 768D  (linguistic text embedding)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900" b="0" dirty="0">
                <a:solidFill>
                  <a:srgbClr val="1A1A1A"/>
                </a:solidFill>
                <a:latin typeface="Trebuchet MS"/>
              </a:rPr>
              <a:t>•  Feature standardization &amp; fusion → 1,690-D fused vector.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900" b="0" dirty="0">
                <a:solidFill>
                  <a:srgbClr val="1A1A1A"/>
                </a:solidFill>
                <a:latin typeface="Trebuchet MS"/>
              </a:rPr>
              <a:t>•  </a:t>
            </a:r>
            <a:r>
              <a:rPr sz="1900" b="0" dirty="0" err="1">
                <a:solidFill>
                  <a:srgbClr val="1A1A1A"/>
                </a:solidFill>
                <a:latin typeface="Trebuchet MS"/>
              </a:rPr>
              <a:t>CompactTriModalMLP</a:t>
            </a:r>
            <a:r>
              <a:rPr sz="1900" b="0" dirty="0">
                <a:solidFill>
                  <a:srgbClr val="1A1A1A"/>
                </a:solidFill>
                <a:latin typeface="Trebuchet MS"/>
              </a:rPr>
              <a:t> → three output heads: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900" b="0" dirty="0">
                <a:solidFill>
                  <a:srgbClr val="1A1A1A"/>
                </a:solidFill>
                <a:latin typeface="Trebuchet MS"/>
              </a:rPr>
              <a:t>        –  3-class severity classification    ·    Binary depression status    ·    PHQ-8 score regression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900" b="1" dirty="0">
                <a:solidFill>
                  <a:srgbClr val="1A1A1A"/>
                </a:solidFill>
                <a:latin typeface="Trebuchet MS"/>
              </a:rPr>
              <a:t>KEY POINT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900" b="1" dirty="0">
                <a:solidFill>
                  <a:srgbClr val="1A1A1A"/>
                </a:solidFill>
                <a:latin typeface="Trebuchet MS"/>
              </a:rPr>
              <a:t>•  154D + 768D + 768D = 1,690D</a:t>
            </a:r>
          </a:p>
        </p:txBody>
      </p:sp>
      <p:pic>
        <p:nvPicPr>
          <p:cNvPr id="137" name="Google Shape;137;g3785cdd0013_0_28">
            <a:extLst>
              <a:ext uri="{FF2B5EF4-FFF2-40B4-BE49-F238E27FC236}">
                <a16:creationId xmlns:a16="http://schemas.microsoft.com/office/drawing/2014/main" id="{4139282B-CEA4-AF5E-B99E-EEE444AA436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8;g3785cdd0013_0_8">
            <a:extLst>
              <a:ext uri="{FF2B5EF4-FFF2-40B4-BE49-F238E27FC236}">
                <a16:creationId xmlns:a16="http://schemas.microsoft.com/office/drawing/2014/main" id="{D3C22FAE-9E90-54C6-8C22-774D870A70FD}"/>
              </a:ext>
            </a:extLst>
          </p:cNvPr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200"/>
            </a:pPr>
            <a:r>
              <a:rPr lang="en-IN" sz="1200" dirty="0">
                <a:solidFill>
                  <a:schemeClr val="tx1"/>
                </a:solidFill>
                <a:latin typeface="Trebuchet MS" panose="020B0603020202020204" pitchFamily="34" charset="0"/>
              </a:rPr>
              <a:t>Detecting Depression using vocal cues</a:t>
            </a:r>
            <a:endParaRPr sz="12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19;g3785cdd0013_0_8">
            <a:extLst>
              <a:ext uri="{FF2B5EF4-FFF2-40B4-BE49-F238E27FC236}">
                <a16:creationId xmlns:a16="http://schemas.microsoft.com/office/drawing/2014/main" id="{45B0E027-BCF1-EE18-92C1-3B6BE679B4F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err="1"/>
              <a:t>SrujanJ_VishruthRallapalli_YuvrajRao_VivanJeevanNaik</a:t>
            </a:r>
            <a:endParaRPr dirty="0"/>
          </a:p>
        </p:txBody>
      </p:sp>
      <p:sp>
        <p:nvSpPr>
          <p:cNvPr id="5" name="Google Shape;136;g3785cdd0013_0_28">
            <a:extLst>
              <a:ext uri="{FF2B5EF4-FFF2-40B4-BE49-F238E27FC236}">
                <a16:creationId xmlns:a16="http://schemas.microsoft.com/office/drawing/2014/main" id="{312921FF-A45B-4D39-7EA8-20F154470D98}"/>
              </a:ext>
            </a:extLst>
          </p:cNvPr>
          <p:cNvSpPr txBox="1"/>
          <p:nvPr/>
        </p:nvSpPr>
        <p:spPr>
          <a:xfrm>
            <a:off x="2057400" y="990600"/>
            <a:ext cx="86868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Overall System Architecture</a:t>
            </a:r>
            <a:endParaRPr sz="2400" b="0" i="0" u="none" strike="noStrike" cap="none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82329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785cdd0013_0_38"/>
          <p:cNvSpPr txBox="1"/>
          <p:nvPr/>
        </p:nvSpPr>
        <p:spPr>
          <a:xfrm>
            <a:off x="2773600" y="812200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Feature Extraction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g3785cdd0013_0_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8;g3785cdd0013_0_8">
            <a:extLst>
              <a:ext uri="{FF2B5EF4-FFF2-40B4-BE49-F238E27FC236}">
                <a16:creationId xmlns:a16="http://schemas.microsoft.com/office/drawing/2014/main" id="{BBAA667C-4551-B1DC-C1F3-6DC7D1EBFA76}"/>
              </a:ext>
            </a:extLst>
          </p:cNvPr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200"/>
            </a:pPr>
            <a:r>
              <a:rPr lang="en-IN" sz="1200" dirty="0">
                <a:solidFill>
                  <a:schemeClr val="tx1"/>
                </a:solidFill>
                <a:latin typeface="Trebuchet MS" panose="020B0603020202020204" pitchFamily="34" charset="0"/>
              </a:rPr>
              <a:t>Detecting Depression using vocal cues</a:t>
            </a:r>
            <a:endParaRPr sz="12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19;g3785cdd0013_0_8">
            <a:extLst>
              <a:ext uri="{FF2B5EF4-FFF2-40B4-BE49-F238E27FC236}">
                <a16:creationId xmlns:a16="http://schemas.microsoft.com/office/drawing/2014/main" id="{E845E827-24E9-91CB-F096-8E7F8154E27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err="1"/>
              <a:t>SrujanJ_VishruthRallapalli_YuvrajRao_VivanJeevanNaik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55A5E4-120C-96C6-827C-C422F1CA59E6}"/>
              </a:ext>
            </a:extLst>
          </p:cNvPr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2000" b="1" dirty="0">
                <a:solidFill>
                  <a:srgbClr val="1A1A1A"/>
                </a:solidFill>
                <a:latin typeface="Trebuchet MS"/>
              </a:rPr>
              <a:t>1.  ACOUSTIC — 154D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2000" b="0" dirty="0">
                <a:solidFill>
                  <a:srgbClr val="1A1A1A"/>
                </a:solidFill>
                <a:latin typeface="Trebuchet MS"/>
              </a:rPr>
              <a:t>        –  </a:t>
            </a:r>
            <a:r>
              <a:rPr sz="2000" b="0" dirty="0" err="1">
                <a:solidFill>
                  <a:srgbClr val="1A1A1A"/>
                </a:solidFill>
                <a:latin typeface="Trebuchet MS"/>
              </a:rPr>
              <a:t>eGeMAPS</a:t>
            </a:r>
            <a:r>
              <a:rPr sz="2000" b="0" dirty="0">
                <a:solidFill>
                  <a:srgbClr val="1A1A1A"/>
                </a:solidFill>
                <a:latin typeface="Trebuchet MS"/>
              </a:rPr>
              <a:t> (88): pitch/F0, jitter, shimmer, loudness, alpha ratio, Hammarberg index, formants F1–F3.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2000" b="0" dirty="0">
                <a:solidFill>
                  <a:srgbClr val="1A1A1A"/>
                </a:solidFill>
                <a:latin typeface="Trebuchet MS"/>
              </a:rPr>
              <a:t>        –  MFCC statistics (52): 26 mean + 26 std — articulation dynamics &amp; spectral timbre.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2000" b="0" dirty="0">
                <a:solidFill>
                  <a:srgbClr val="1A1A1A"/>
                </a:solidFill>
                <a:latin typeface="Trebuchet MS"/>
              </a:rPr>
              <a:t>        –  Prosodic &amp; spectral (14): RMS energy, F0, spectral centroid, </a:t>
            </a:r>
            <a:r>
              <a:rPr sz="2000" b="0" dirty="0" err="1">
                <a:solidFill>
                  <a:srgbClr val="1A1A1A"/>
                </a:solidFill>
                <a:latin typeface="Trebuchet MS"/>
              </a:rPr>
              <a:t>rolloff</a:t>
            </a:r>
            <a:r>
              <a:rPr sz="2000" b="0" dirty="0">
                <a:solidFill>
                  <a:srgbClr val="1A1A1A"/>
                </a:solidFill>
                <a:latin typeface="Trebuchet MS"/>
              </a:rPr>
              <a:t>, zero-crossing rate.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2000" b="1" dirty="0">
                <a:solidFill>
                  <a:srgbClr val="1A1A1A"/>
                </a:solidFill>
                <a:latin typeface="Trebuchet MS"/>
              </a:rPr>
              <a:t>2.  WAV2VEC 2.0 — 768D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2000" b="0" dirty="0">
                <a:solidFill>
                  <a:srgbClr val="1A1A1A"/>
                </a:solidFill>
                <a:latin typeface="Trebuchet MS"/>
              </a:rPr>
              <a:t>        –  Frozen </a:t>
            </a:r>
            <a:r>
              <a:rPr sz="2000" b="0" dirty="0" err="1">
                <a:solidFill>
                  <a:srgbClr val="1A1A1A"/>
                </a:solidFill>
                <a:latin typeface="Trebuchet MS"/>
              </a:rPr>
              <a:t>facebook</a:t>
            </a:r>
            <a:r>
              <a:rPr sz="2000" b="0" dirty="0">
                <a:solidFill>
                  <a:srgbClr val="1A1A1A"/>
                </a:solidFill>
                <a:latin typeface="Trebuchet MS"/>
              </a:rPr>
              <a:t>/wav2vec2-base-960h; contextual speech representations after 16 kHz resampling.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2000" b="1" dirty="0">
                <a:solidFill>
                  <a:srgbClr val="1A1A1A"/>
                </a:solidFill>
                <a:latin typeface="Trebuchet MS"/>
              </a:rPr>
              <a:t>3.  BERT — 768D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2000" b="0" dirty="0">
                <a:solidFill>
                  <a:srgbClr val="1A1A1A"/>
                </a:solidFill>
                <a:latin typeface="Trebuchet MS"/>
              </a:rPr>
              <a:t>        –  Frozen </a:t>
            </a:r>
            <a:r>
              <a:rPr sz="2000" b="0" dirty="0" err="1">
                <a:solidFill>
                  <a:srgbClr val="1A1A1A"/>
                </a:solidFill>
                <a:latin typeface="Trebuchet MS"/>
              </a:rPr>
              <a:t>bert</a:t>
            </a:r>
            <a:r>
              <a:rPr sz="2000" b="0" dirty="0">
                <a:solidFill>
                  <a:srgbClr val="1A1A1A"/>
                </a:solidFill>
                <a:latin typeface="Trebuchet MS"/>
              </a:rPr>
              <a:t>-base-uncased; participant-only utterances; 512-token windows with 128-token overlap.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2000" b="1" dirty="0">
                <a:solidFill>
                  <a:srgbClr val="1A1A1A"/>
                </a:solidFill>
                <a:latin typeface="Trebuchet MS"/>
              </a:rPr>
              <a:t>FINAL REPRESENTATION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2000" b="1" dirty="0">
                <a:solidFill>
                  <a:srgbClr val="1A1A1A"/>
                </a:solidFill>
                <a:latin typeface="Trebuchet MS"/>
              </a:rPr>
              <a:t>•  154 + 768 + 768 = 1,690 dimensions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785cdd0013_0_47"/>
          <p:cNvSpPr txBox="1"/>
          <p:nvPr/>
        </p:nvSpPr>
        <p:spPr>
          <a:xfrm>
            <a:off x="3048000" y="780763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Model Design and Training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3785cdd0013_0_47"/>
          <p:cNvSpPr txBox="1"/>
          <p:nvPr/>
        </p:nvSpPr>
        <p:spPr>
          <a:xfrm>
            <a:off x="548640" y="1508760"/>
            <a:ext cx="1106424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50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IN" sz="2000" b="1" dirty="0">
                <a:solidFill>
                  <a:srgbClr val="1A1A1A"/>
                </a:solidFill>
                <a:latin typeface="Trebuchet MS" panose="020B0603020202020204" pitchFamily="34" charset="0"/>
              </a:rPr>
              <a:t>FINAL MODEL: </a:t>
            </a:r>
            <a:r>
              <a:rPr lang="en-IN" sz="2000" b="1" dirty="0" err="1">
                <a:solidFill>
                  <a:srgbClr val="1A1A1A"/>
                </a:solidFill>
                <a:latin typeface="Trebuchet MS" panose="020B0603020202020204" pitchFamily="34" charset="0"/>
              </a:rPr>
              <a:t>CompactTriModalMLP</a:t>
            </a:r>
            <a:endParaRPr lang="en-IN" sz="2000" b="0" i="0" u="none" strike="noStrike" cap="none" dirty="0">
              <a:solidFill>
                <a:schemeClr val="accent1"/>
              </a:solidFill>
              <a:latin typeface="Trebuchet MS" panose="020B0603020202020204" pitchFamily="34" charset="0"/>
              <a:sym typeface="Arial"/>
            </a:endParaRP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lang="en-IN" sz="2000" b="0" dirty="0">
                <a:solidFill>
                  <a:srgbClr val="1A1A1A"/>
                </a:solidFill>
                <a:latin typeface="Trebuchet MS" panose="020B0603020202020204" pitchFamily="34" charset="0"/>
              </a:rPr>
              <a:t>•  Input: 1,690-D fused vector.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lang="en-IN" sz="2000" b="0" dirty="0">
                <a:solidFill>
                  <a:srgbClr val="1A1A1A"/>
                </a:solidFill>
                <a:latin typeface="Trebuchet MS" panose="020B0603020202020204" pitchFamily="34" charset="0"/>
              </a:rPr>
              <a:t>•  Linear(1690 → 128) → </a:t>
            </a:r>
            <a:r>
              <a:rPr lang="en-IN" sz="2000" b="0" dirty="0" err="1">
                <a:solidFill>
                  <a:srgbClr val="1A1A1A"/>
                </a:solidFill>
                <a:latin typeface="Trebuchet MS" panose="020B0603020202020204" pitchFamily="34" charset="0"/>
              </a:rPr>
              <a:t>LayerNorm</a:t>
            </a:r>
            <a:r>
              <a:rPr lang="en-IN" sz="2000" b="0" dirty="0">
                <a:solidFill>
                  <a:srgbClr val="1A1A1A"/>
                </a:solidFill>
                <a:latin typeface="Trebuchet MS" panose="020B0603020202020204" pitchFamily="34" charset="0"/>
              </a:rPr>
              <a:t> → </a:t>
            </a:r>
            <a:r>
              <a:rPr lang="en-IN" sz="2000" b="0" dirty="0" err="1">
                <a:solidFill>
                  <a:srgbClr val="1A1A1A"/>
                </a:solidFill>
                <a:latin typeface="Trebuchet MS" panose="020B0603020202020204" pitchFamily="34" charset="0"/>
              </a:rPr>
              <a:t>ReLU</a:t>
            </a:r>
            <a:r>
              <a:rPr lang="en-IN" sz="2000" b="0" dirty="0">
                <a:solidFill>
                  <a:srgbClr val="1A1A1A"/>
                </a:solidFill>
                <a:latin typeface="Trebuchet MS" panose="020B0603020202020204" pitchFamily="34" charset="0"/>
              </a:rPr>
              <a:t> → Dropout(0.3).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lang="en-IN" sz="2000" b="0" dirty="0">
                <a:solidFill>
                  <a:srgbClr val="1A1A1A"/>
                </a:solidFill>
                <a:latin typeface="Trebuchet MS" panose="020B0603020202020204" pitchFamily="34" charset="0"/>
              </a:rPr>
              <a:t>•  Linear(128 → 64) → </a:t>
            </a:r>
            <a:r>
              <a:rPr lang="en-IN" sz="2000" b="0" dirty="0" err="1">
                <a:solidFill>
                  <a:srgbClr val="1A1A1A"/>
                </a:solidFill>
                <a:latin typeface="Trebuchet MS" panose="020B0603020202020204" pitchFamily="34" charset="0"/>
              </a:rPr>
              <a:t>LayerNorm</a:t>
            </a:r>
            <a:r>
              <a:rPr lang="en-IN" sz="2000" b="0" dirty="0">
                <a:solidFill>
                  <a:srgbClr val="1A1A1A"/>
                </a:solidFill>
                <a:latin typeface="Trebuchet MS" panose="020B0603020202020204" pitchFamily="34" charset="0"/>
              </a:rPr>
              <a:t> → </a:t>
            </a:r>
            <a:r>
              <a:rPr lang="en-IN" sz="2000" b="0" dirty="0" err="1">
                <a:solidFill>
                  <a:srgbClr val="1A1A1A"/>
                </a:solidFill>
                <a:latin typeface="Trebuchet MS" panose="020B0603020202020204" pitchFamily="34" charset="0"/>
              </a:rPr>
              <a:t>ReLU</a:t>
            </a:r>
            <a:r>
              <a:rPr lang="en-IN" sz="2000" b="0" dirty="0">
                <a:solidFill>
                  <a:srgbClr val="1A1A1A"/>
                </a:solidFill>
                <a:latin typeface="Trebuchet MS" panose="020B0603020202020204" pitchFamily="34" charset="0"/>
              </a:rPr>
              <a:t>.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lang="en-IN" sz="2000" b="0" dirty="0">
                <a:solidFill>
                  <a:srgbClr val="1A1A1A"/>
                </a:solidFill>
                <a:latin typeface="Trebuchet MS" panose="020B0603020202020204" pitchFamily="34" charset="0"/>
              </a:rPr>
              <a:t>•  Three output heads: 3-class severity · binary depression · PHQ-8 regression.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endParaRPr lang="en-IN" sz="2000" b="0" dirty="0">
              <a:solidFill>
                <a:srgbClr val="1A1A1A"/>
              </a:solidFill>
              <a:latin typeface="Trebuchet MS" panose="020B0603020202020204" pitchFamily="34" charset="0"/>
            </a:endParaRP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lang="en-IN" sz="2000" b="1" dirty="0">
                <a:solidFill>
                  <a:srgbClr val="1A1A1A"/>
                </a:solidFill>
                <a:latin typeface="Trebuchet MS" panose="020B0603020202020204" pitchFamily="34" charset="0"/>
              </a:rPr>
              <a:t>TRAINING CONFIGURATION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lang="en-IN" sz="2000" b="0" dirty="0">
                <a:solidFill>
                  <a:srgbClr val="1A1A1A"/>
                </a:solidFill>
                <a:latin typeface="Trebuchet MS" panose="020B0603020202020204" pitchFamily="34" charset="0"/>
              </a:rPr>
              <a:t>•  Parameters 225,413 · Optimizer </a:t>
            </a:r>
            <a:r>
              <a:rPr lang="en-IN" sz="2000" b="0" dirty="0" err="1">
                <a:solidFill>
                  <a:srgbClr val="1A1A1A"/>
                </a:solidFill>
                <a:latin typeface="Trebuchet MS" panose="020B0603020202020204" pitchFamily="34" charset="0"/>
              </a:rPr>
              <a:t>AdamW</a:t>
            </a:r>
            <a:r>
              <a:rPr lang="en-IN" sz="2000" b="0" dirty="0">
                <a:solidFill>
                  <a:srgbClr val="1A1A1A"/>
                </a:solidFill>
                <a:latin typeface="Trebuchet MS" panose="020B0603020202020204" pitchFamily="34" charset="0"/>
              </a:rPr>
              <a:t> · LR 1e-3 · Weight decay 1e-3 · Batch size 16.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lang="en-IN" sz="2000" b="0" dirty="0">
                <a:solidFill>
                  <a:srgbClr val="1A1A1A"/>
                </a:solidFill>
                <a:latin typeface="Trebuchet MS" panose="020B0603020202020204" pitchFamily="34" charset="0"/>
              </a:rPr>
              <a:t>•  </a:t>
            </a:r>
            <a:r>
              <a:rPr lang="en-IN" sz="2000" b="0" dirty="0" err="1">
                <a:solidFill>
                  <a:srgbClr val="1A1A1A"/>
                </a:solidFill>
                <a:latin typeface="Trebuchet MS" panose="020B0603020202020204" pitchFamily="34" charset="0"/>
              </a:rPr>
              <a:t>CosineAnnealingLR</a:t>
            </a:r>
            <a:r>
              <a:rPr lang="en-IN" sz="2000" b="0" dirty="0">
                <a:solidFill>
                  <a:srgbClr val="1A1A1A"/>
                </a:solidFill>
                <a:latin typeface="Trebuchet MS" panose="020B0603020202020204" pitchFamily="34" charset="0"/>
              </a:rPr>
              <a:t> · 5-fold Stratified Group Split · class-weighted Cross Entropy.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lang="en-IN" sz="2000" b="0" dirty="0">
                <a:solidFill>
                  <a:srgbClr val="1A1A1A"/>
                </a:solidFill>
                <a:latin typeface="Trebuchet MS" panose="020B0603020202020204" pitchFamily="34" charset="0"/>
              </a:rPr>
              <a:t>•  Checkpoint on validation Macro-F1 · Temperature scaling T = 1.6742.</a:t>
            </a:r>
          </a:p>
        </p:txBody>
      </p:sp>
      <p:pic>
        <p:nvPicPr>
          <p:cNvPr id="155" name="Google Shape;155;g3785cdd0013_0_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8;g3785cdd0013_0_8">
            <a:extLst>
              <a:ext uri="{FF2B5EF4-FFF2-40B4-BE49-F238E27FC236}">
                <a16:creationId xmlns:a16="http://schemas.microsoft.com/office/drawing/2014/main" id="{E2D1CAF2-F9DD-3262-194D-6291807FAC05}"/>
              </a:ext>
            </a:extLst>
          </p:cNvPr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200"/>
            </a:pPr>
            <a:r>
              <a:rPr lang="en-IN" sz="1200" dirty="0">
                <a:solidFill>
                  <a:schemeClr val="tx1"/>
                </a:solidFill>
                <a:latin typeface="Trebuchet MS" panose="020B0603020202020204" pitchFamily="34" charset="0"/>
              </a:rPr>
              <a:t>Detecting Depression using vocal cues</a:t>
            </a:r>
            <a:endParaRPr sz="12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19;g3785cdd0013_0_8">
            <a:extLst>
              <a:ext uri="{FF2B5EF4-FFF2-40B4-BE49-F238E27FC236}">
                <a16:creationId xmlns:a16="http://schemas.microsoft.com/office/drawing/2014/main" id="{110B1EE1-4CF2-F68C-8321-BE6365700B0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err="1"/>
              <a:t>SrujanJ_VishruthRallapalli_YuvrajRao_VivanJeevanNaik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85cdd0013_0_56"/>
          <p:cNvSpPr txBox="1"/>
          <p:nvPr/>
        </p:nvSpPr>
        <p:spPr>
          <a:xfrm>
            <a:off x="3351475" y="984602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Modules and Technologies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785cdd0013_0_56"/>
          <p:cNvSpPr txBox="1"/>
          <p:nvPr/>
        </p:nvSpPr>
        <p:spPr>
          <a:xfrm>
            <a:off x="548640" y="1508760"/>
            <a:ext cx="1106424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5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000" b="1" dirty="0">
                <a:solidFill>
                  <a:srgbClr val="1A1A1A"/>
                </a:solidFill>
                <a:latin typeface="Trebuchet MS"/>
              </a:rPr>
              <a:t>MODULES</a:t>
            </a:r>
            <a:endParaRPr sz="2000" b="0" i="0" strike="noStrike" cap="none" dirty="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2000" b="1" dirty="0">
                <a:solidFill>
                  <a:srgbClr val="1A1A1A"/>
                </a:solidFill>
                <a:latin typeface="Trebuchet MS"/>
              </a:rPr>
              <a:t>•  Feature Store</a:t>
            </a:r>
            <a:r>
              <a:rPr sz="2000" b="0" dirty="0">
                <a:solidFill>
                  <a:srgbClr val="1A1A1A"/>
                </a:solidFill>
                <a:latin typeface="Trebuchet MS"/>
              </a:rPr>
              <a:t> — caches compressed multimodal features  (NumPy, </a:t>
            </a:r>
            <a:r>
              <a:rPr sz="2000" b="0" dirty="0" err="1">
                <a:solidFill>
                  <a:srgbClr val="1A1A1A"/>
                </a:solidFill>
                <a:latin typeface="Trebuchet MS"/>
              </a:rPr>
              <a:t>Joblib</a:t>
            </a:r>
            <a:r>
              <a:rPr sz="2000" b="0" dirty="0">
                <a:solidFill>
                  <a:srgbClr val="1A1A1A"/>
                </a:solidFill>
                <a:latin typeface="Trebuchet MS"/>
              </a:rPr>
              <a:t>).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2000" b="1" dirty="0">
                <a:solidFill>
                  <a:srgbClr val="1A1A1A"/>
                </a:solidFill>
                <a:latin typeface="Trebuchet MS"/>
              </a:rPr>
              <a:t>•  BERT Extractor</a:t>
            </a:r>
            <a:r>
              <a:rPr sz="2000" b="0" dirty="0">
                <a:solidFill>
                  <a:srgbClr val="1A1A1A"/>
                </a:solidFill>
                <a:latin typeface="Trebuchet MS"/>
              </a:rPr>
              <a:t> — participant-only linguistic features  (</a:t>
            </a:r>
            <a:r>
              <a:rPr sz="2000" b="0" dirty="0" err="1">
                <a:solidFill>
                  <a:srgbClr val="1A1A1A"/>
                </a:solidFill>
                <a:latin typeface="Trebuchet MS"/>
              </a:rPr>
              <a:t>HuggingFace</a:t>
            </a:r>
            <a:r>
              <a:rPr sz="2000" b="0" dirty="0">
                <a:solidFill>
                  <a:srgbClr val="1A1A1A"/>
                </a:solidFill>
                <a:latin typeface="Trebuchet MS"/>
              </a:rPr>
              <a:t> Transformers, </a:t>
            </a:r>
            <a:r>
              <a:rPr sz="2000" b="0" dirty="0" err="1">
                <a:solidFill>
                  <a:srgbClr val="1A1A1A"/>
                </a:solidFill>
                <a:latin typeface="Trebuchet MS"/>
              </a:rPr>
              <a:t>PyTorch</a:t>
            </a:r>
            <a:r>
              <a:rPr sz="2000" b="0" dirty="0">
                <a:solidFill>
                  <a:srgbClr val="1A1A1A"/>
                </a:solidFill>
                <a:latin typeface="Trebuchet MS"/>
              </a:rPr>
              <a:t>).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2000" b="1" dirty="0">
                <a:solidFill>
                  <a:srgbClr val="1A1A1A"/>
                </a:solidFill>
                <a:latin typeface="Trebuchet MS"/>
              </a:rPr>
              <a:t>•  Wav2Vec Extractor</a:t>
            </a:r>
            <a:r>
              <a:rPr sz="2000" b="0" dirty="0">
                <a:solidFill>
                  <a:srgbClr val="1A1A1A"/>
                </a:solidFill>
                <a:latin typeface="Trebuchet MS"/>
              </a:rPr>
              <a:t> — self-supervised speech representation  (</a:t>
            </a:r>
            <a:r>
              <a:rPr sz="2000" b="0" dirty="0" err="1">
                <a:solidFill>
                  <a:srgbClr val="1A1A1A"/>
                </a:solidFill>
                <a:latin typeface="Trebuchet MS"/>
              </a:rPr>
              <a:t>Torchaudio</a:t>
            </a:r>
            <a:r>
              <a:rPr sz="2000" b="0" dirty="0">
                <a:solidFill>
                  <a:srgbClr val="1A1A1A"/>
                </a:solidFill>
                <a:latin typeface="Trebuchet MS"/>
              </a:rPr>
              <a:t>, </a:t>
            </a:r>
            <a:r>
              <a:rPr sz="2000" b="0" dirty="0" err="1">
                <a:solidFill>
                  <a:srgbClr val="1A1A1A"/>
                </a:solidFill>
                <a:latin typeface="Trebuchet MS"/>
              </a:rPr>
              <a:t>PyTorch</a:t>
            </a:r>
            <a:r>
              <a:rPr sz="2000" b="0" dirty="0">
                <a:solidFill>
                  <a:srgbClr val="1A1A1A"/>
                </a:solidFill>
                <a:latin typeface="Trebuchet MS"/>
              </a:rPr>
              <a:t>).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2000" b="1" dirty="0">
                <a:solidFill>
                  <a:srgbClr val="1A1A1A"/>
                </a:solidFill>
                <a:latin typeface="Trebuchet MS"/>
              </a:rPr>
              <a:t>•  </a:t>
            </a:r>
            <a:r>
              <a:rPr sz="2000" b="1" dirty="0" err="1">
                <a:solidFill>
                  <a:srgbClr val="1A1A1A"/>
                </a:solidFill>
                <a:latin typeface="Trebuchet MS"/>
              </a:rPr>
              <a:t>eGeMAPS</a:t>
            </a:r>
            <a:r>
              <a:rPr sz="2000" b="1" dirty="0">
                <a:solidFill>
                  <a:srgbClr val="1A1A1A"/>
                </a:solidFill>
                <a:latin typeface="Trebuchet MS"/>
              </a:rPr>
              <a:t> Extractor</a:t>
            </a:r>
            <a:r>
              <a:rPr sz="2000" b="0" dirty="0">
                <a:solidFill>
                  <a:srgbClr val="1A1A1A"/>
                </a:solidFill>
                <a:latin typeface="Trebuchet MS"/>
              </a:rPr>
              <a:t> — acoustic biomarker extraction  (</a:t>
            </a:r>
            <a:r>
              <a:rPr sz="2000" b="0" dirty="0" err="1">
                <a:solidFill>
                  <a:srgbClr val="1A1A1A"/>
                </a:solidFill>
                <a:latin typeface="Trebuchet MS"/>
              </a:rPr>
              <a:t>openSMILE</a:t>
            </a:r>
            <a:r>
              <a:rPr sz="2000" b="0" dirty="0">
                <a:solidFill>
                  <a:srgbClr val="1A1A1A"/>
                </a:solidFill>
                <a:latin typeface="Trebuchet MS"/>
              </a:rPr>
              <a:t>, </a:t>
            </a:r>
            <a:r>
              <a:rPr sz="2000" b="0" dirty="0" err="1">
                <a:solidFill>
                  <a:srgbClr val="1A1A1A"/>
                </a:solidFill>
                <a:latin typeface="Trebuchet MS"/>
              </a:rPr>
              <a:t>Librosa</a:t>
            </a:r>
            <a:r>
              <a:rPr sz="2000" b="0" dirty="0">
                <a:solidFill>
                  <a:srgbClr val="1A1A1A"/>
                </a:solidFill>
                <a:latin typeface="Trebuchet MS"/>
              </a:rPr>
              <a:t>).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2000" b="1" dirty="0">
                <a:solidFill>
                  <a:srgbClr val="1A1A1A"/>
                </a:solidFill>
                <a:latin typeface="Trebuchet MS"/>
              </a:rPr>
              <a:t>•  Training Engine</a:t>
            </a:r>
            <a:r>
              <a:rPr sz="2000" b="0" dirty="0">
                <a:solidFill>
                  <a:srgbClr val="1A1A1A"/>
                </a:solidFill>
                <a:latin typeface="Trebuchet MS"/>
              </a:rPr>
              <a:t> — leak-free training, stratification &amp; benchmarking  (</a:t>
            </a:r>
            <a:r>
              <a:rPr sz="2000" b="0" dirty="0" err="1">
                <a:solidFill>
                  <a:srgbClr val="1A1A1A"/>
                </a:solidFill>
                <a:latin typeface="Trebuchet MS"/>
              </a:rPr>
              <a:t>PyTorch</a:t>
            </a:r>
            <a:r>
              <a:rPr sz="2000" b="0" dirty="0">
                <a:solidFill>
                  <a:srgbClr val="1A1A1A"/>
                </a:solidFill>
                <a:latin typeface="Trebuchet MS"/>
              </a:rPr>
              <a:t>, Scikit-learn).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2000" b="1" dirty="0">
                <a:solidFill>
                  <a:srgbClr val="1A1A1A"/>
                </a:solidFill>
                <a:latin typeface="Trebuchet MS"/>
              </a:rPr>
              <a:t>•  Single Evaluator</a:t>
            </a:r>
            <a:r>
              <a:rPr sz="2000" b="0" dirty="0">
                <a:solidFill>
                  <a:srgbClr val="1A1A1A"/>
                </a:solidFill>
                <a:latin typeface="Trebuchet MS"/>
              </a:rPr>
              <a:t> — inference on individual recordings  (</a:t>
            </a:r>
            <a:r>
              <a:rPr sz="2000" b="0" dirty="0" err="1">
                <a:solidFill>
                  <a:srgbClr val="1A1A1A"/>
                </a:solidFill>
                <a:latin typeface="Trebuchet MS"/>
              </a:rPr>
              <a:t>PyTorch</a:t>
            </a:r>
            <a:r>
              <a:rPr sz="2000" b="0" dirty="0">
                <a:solidFill>
                  <a:srgbClr val="1A1A1A"/>
                </a:solidFill>
                <a:latin typeface="Trebuchet MS"/>
              </a:rPr>
              <a:t>, </a:t>
            </a:r>
            <a:r>
              <a:rPr sz="2000" b="0" dirty="0" err="1">
                <a:solidFill>
                  <a:srgbClr val="1A1A1A"/>
                </a:solidFill>
                <a:latin typeface="Trebuchet MS"/>
              </a:rPr>
              <a:t>Joblib</a:t>
            </a:r>
            <a:r>
              <a:rPr sz="2000" b="0" dirty="0">
                <a:solidFill>
                  <a:srgbClr val="1A1A1A"/>
                </a:solidFill>
                <a:latin typeface="Trebuchet MS"/>
              </a:rPr>
              <a:t>, </a:t>
            </a:r>
            <a:r>
              <a:rPr sz="2000" b="0" dirty="0" err="1">
                <a:solidFill>
                  <a:srgbClr val="1A1A1A"/>
                </a:solidFill>
                <a:latin typeface="Trebuchet MS"/>
              </a:rPr>
              <a:t>Librosa</a:t>
            </a:r>
            <a:r>
              <a:rPr sz="2000" b="0" dirty="0">
                <a:solidFill>
                  <a:srgbClr val="1A1A1A"/>
                </a:solidFill>
                <a:latin typeface="Trebuchet MS"/>
              </a:rPr>
              <a:t>).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2000" b="1" dirty="0">
                <a:solidFill>
                  <a:srgbClr val="1A1A1A"/>
                </a:solidFill>
                <a:latin typeface="Trebuchet MS"/>
              </a:rPr>
              <a:t>•  Unseen Benchmark</a:t>
            </a:r>
            <a:r>
              <a:rPr sz="2000" b="0" dirty="0">
                <a:solidFill>
                  <a:srgbClr val="1A1A1A"/>
                </a:solidFill>
                <a:latin typeface="Trebuchet MS"/>
              </a:rPr>
              <a:t> — automated evaluation on reserved sessions  (Pandas, </a:t>
            </a:r>
            <a:r>
              <a:rPr sz="2000" b="0" dirty="0" err="1">
                <a:solidFill>
                  <a:srgbClr val="1A1A1A"/>
                </a:solidFill>
                <a:latin typeface="Trebuchet MS"/>
              </a:rPr>
              <a:t>PyTorch</a:t>
            </a:r>
            <a:r>
              <a:rPr sz="2000" b="0" dirty="0">
                <a:solidFill>
                  <a:srgbClr val="1A1A1A"/>
                </a:solidFill>
                <a:latin typeface="Trebuchet MS"/>
              </a:rPr>
              <a:t>).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2000" b="1" dirty="0">
                <a:solidFill>
                  <a:srgbClr val="1A1A1A"/>
                </a:solidFill>
                <a:latin typeface="Trebuchet MS"/>
              </a:rPr>
              <a:t>CORE TECHNOLOGIES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2000" b="0" dirty="0">
                <a:solidFill>
                  <a:srgbClr val="1A1A1A"/>
                </a:solidFill>
                <a:latin typeface="Trebuchet MS"/>
              </a:rPr>
              <a:t>•  Python · </a:t>
            </a:r>
            <a:r>
              <a:rPr sz="2000" b="0" dirty="0" err="1">
                <a:solidFill>
                  <a:srgbClr val="1A1A1A"/>
                </a:solidFill>
                <a:latin typeface="Trebuchet MS"/>
              </a:rPr>
              <a:t>PyTorch</a:t>
            </a:r>
            <a:r>
              <a:rPr sz="2000" b="0" dirty="0">
                <a:solidFill>
                  <a:srgbClr val="1A1A1A"/>
                </a:solidFill>
                <a:latin typeface="Trebuchet MS"/>
              </a:rPr>
              <a:t> · Scikit-learn · </a:t>
            </a:r>
            <a:r>
              <a:rPr sz="2000" b="0" dirty="0" err="1">
                <a:solidFill>
                  <a:srgbClr val="1A1A1A"/>
                </a:solidFill>
                <a:latin typeface="Trebuchet MS"/>
              </a:rPr>
              <a:t>HuggingFace</a:t>
            </a:r>
            <a:r>
              <a:rPr sz="2000" b="0" dirty="0">
                <a:solidFill>
                  <a:srgbClr val="1A1A1A"/>
                </a:solidFill>
                <a:latin typeface="Trebuchet MS"/>
              </a:rPr>
              <a:t> Transformers · Wav2Vec 2.0 · BERT · </a:t>
            </a:r>
            <a:r>
              <a:rPr sz="2000" b="0" dirty="0" err="1">
                <a:solidFill>
                  <a:srgbClr val="1A1A1A"/>
                </a:solidFill>
                <a:latin typeface="Trebuchet MS"/>
              </a:rPr>
              <a:t>openSMILE</a:t>
            </a:r>
            <a:r>
              <a:rPr sz="2000" b="0" dirty="0">
                <a:solidFill>
                  <a:srgbClr val="1A1A1A"/>
                </a:solidFill>
                <a:latin typeface="Trebuchet MS"/>
              </a:rPr>
              <a:t> · </a:t>
            </a:r>
            <a:r>
              <a:rPr sz="2000" b="0" dirty="0" err="1">
                <a:solidFill>
                  <a:srgbClr val="1A1A1A"/>
                </a:solidFill>
                <a:latin typeface="Trebuchet MS"/>
              </a:rPr>
              <a:t>Librosa</a:t>
            </a:r>
            <a:r>
              <a:rPr sz="2000" b="0" dirty="0">
                <a:solidFill>
                  <a:srgbClr val="1A1A1A"/>
                </a:solidFill>
                <a:latin typeface="Trebuchet MS"/>
              </a:rPr>
              <a:t> · Pandas.</a:t>
            </a:r>
          </a:p>
        </p:txBody>
      </p:sp>
      <p:pic>
        <p:nvPicPr>
          <p:cNvPr id="164" name="Google Shape;164;g3785cdd0013_0_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8;g3785cdd0013_0_8">
            <a:extLst>
              <a:ext uri="{FF2B5EF4-FFF2-40B4-BE49-F238E27FC236}">
                <a16:creationId xmlns:a16="http://schemas.microsoft.com/office/drawing/2014/main" id="{EC04E259-7F44-B100-9472-BBC515700B07}"/>
              </a:ext>
            </a:extLst>
          </p:cNvPr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200"/>
            </a:pPr>
            <a:r>
              <a:rPr lang="en-IN" sz="1200" dirty="0">
                <a:solidFill>
                  <a:schemeClr val="tx1"/>
                </a:solidFill>
                <a:latin typeface="Trebuchet MS" panose="020B0603020202020204" pitchFamily="34" charset="0"/>
              </a:rPr>
              <a:t>Detecting Depression using vocal cues</a:t>
            </a:r>
            <a:endParaRPr sz="12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19;g3785cdd0013_0_8">
            <a:extLst>
              <a:ext uri="{FF2B5EF4-FFF2-40B4-BE49-F238E27FC236}">
                <a16:creationId xmlns:a16="http://schemas.microsoft.com/office/drawing/2014/main" id="{661FB400-DFF8-93BD-235C-63E1B876A91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err="1"/>
              <a:t>SrujanJ_VishruthRallapalli_YuvrajRao_VivanJeevanNaik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785cdd0013_0_65"/>
          <p:cNvSpPr txBox="1"/>
          <p:nvPr/>
        </p:nvSpPr>
        <p:spPr>
          <a:xfrm>
            <a:off x="2971800" y="984602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Experimental Results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785cdd0013_0_65"/>
          <p:cNvSpPr txBox="1"/>
          <p:nvPr/>
        </p:nvSpPr>
        <p:spPr>
          <a:xfrm>
            <a:off x="457200" y="1572767"/>
            <a:ext cx="6217920" cy="4808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5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1800" b="1" dirty="0">
                <a:solidFill>
                  <a:srgbClr val="1A1A1A"/>
                </a:solidFill>
                <a:latin typeface="Trebuchet MS"/>
              </a:rPr>
              <a:t>TEST HOLDOUT — 37 SESSIONS</a:t>
            </a:r>
            <a:endParaRPr sz="1800" b="0" i="0" u="none" strike="noStrike" cap="none" dirty="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800" b="0" dirty="0">
                <a:solidFill>
                  <a:srgbClr val="1A1A1A"/>
                </a:solidFill>
                <a:latin typeface="Trebuchet MS"/>
              </a:rPr>
              <a:t>•  3-Class Accuracy 83.78% · Macro-F1 42.36% · Balanced Accuracy 48.92%.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800" b="0" dirty="0">
                <a:solidFill>
                  <a:srgbClr val="1A1A1A"/>
                </a:solidFill>
                <a:latin typeface="Trebuchet MS"/>
              </a:rPr>
              <a:t>•  Binary Accuracy 86.49% · Binary F1 54.55% · PHQ-8 MAE 3.07 pts.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800" b="0" dirty="0">
                <a:solidFill>
                  <a:srgbClr val="1A1A1A"/>
                </a:solidFill>
                <a:latin typeface="Trebuchet MS"/>
              </a:rPr>
              <a:t>•  Severe class recall 50% (1/2).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800" b="1" dirty="0">
                <a:solidFill>
                  <a:srgbClr val="1A1A1A"/>
                </a:solidFill>
                <a:latin typeface="Trebuchet MS"/>
              </a:rPr>
              <a:t>VS MAJORITY BASELINE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800" b="0" dirty="0">
                <a:solidFill>
                  <a:srgbClr val="1A1A1A"/>
                </a:solidFill>
                <a:latin typeface="Trebuchet MS"/>
              </a:rPr>
              <a:t>•  Macro-F1:  42.36% vs 30.39%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800" b="0" dirty="0">
                <a:solidFill>
                  <a:srgbClr val="1A1A1A"/>
                </a:solidFill>
                <a:latin typeface="Trebuchet MS"/>
              </a:rPr>
              <a:t>•  Balanced Accuracy:  48.92% vs 33.33%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800" b="0" dirty="0">
                <a:solidFill>
                  <a:srgbClr val="1A1A1A"/>
                </a:solidFill>
                <a:latin typeface="Trebuchet MS"/>
              </a:rPr>
              <a:t>•  Binary F1:  54.55% vs 0.00%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800" b="1" dirty="0">
                <a:solidFill>
                  <a:srgbClr val="1A1A1A"/>
                </a:solidFill>
                <a:latin typeface="Trebuchet MS"/>
              </a:rPr>
              <a:t>KEY OBSERVATION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800" b="0" dirty="0">
                <a:solidFill>
                  <a:srgbClr val="1A1A1A"/>
                </a:solidFill>
                <a:latin typeface="Trebuchet MS"/>
              </a:rPr>
              <a:t>•  Accuracy matches the baseline due to imbalance, but the model improves Macro-F1, Balanced Accuracy, Binary F1 and minority-class recognition.</a:t>
            </a:r>
          </a:p>
        </p:txBody>
      </p:sp>
      <p:pic>
        <p:nvPicPr>
          <p:cNvPr id="173" name="Google Shape;173;g3785cdd0013_0_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8;g3785cdd0013_0_8">
            <a:extLst>
              <a:ext uri="{FF2B5EF4-FFF2-40B4-BE49-F238E27FC236}">
                <a16:creationId xmlns:a16="http://schemas.microsoft.com/office/drawing/2014/main" id="{8E147D5D-5FD4-A858-FF7B-3CF96F42AE28}"/>
              </a:ext>
            </a:extLst>
          </p:cNvPr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200"/>
            </a:pPr>
            <a:r>
              <a:rPr lang="en-IN" sz="1200" dirty="0">
                <a:solidFill>
                  <a:schemeClr val="tx1"/>
                </a:solidFill>
                <a:latin typeface="Trebuchet MS" panose="020B0603020202020204" pitchFamily="34" charset="0"/>
              </a:rPr>
              <a:t>Detecting Depression using vocal cues</a:t>
            </a:r>
            <a:endParaRPr sz="12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19;g3785cdd0013_0_8">
            <a:extLst>
              <a:ext uri="{FF2B5EF4-FFF2-40B4-BE49-F238E27FC236}">
                <a16:creationId xmlns:a16="http://schemas.microsoft.com/office/drawing/2014/main" id="{EF580BB7-825B-8F16-A3E9-971E9E584C6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err="1"/>
              <a:t>SrujanJ_VishruthRallapalli_YuvrajRao_VivanJeevanNaik</a:t>
            </a:r>
            <a:endParaRPr dirty="0"/>
          </a:p>
        </p:txBody>
      </p:sp>
      <p:pic>
        <p:nvPicPr>
          <p:cNvPr id="174" name="Picture 173" descr="graph2_heldou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148840"/>
            <a:ext cx="5120640" cy="267281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785cdd0013_0_65"/>
          <p:cNvSpPr txBox="1"/>
          <p:nvPr/>
        </p:nvSpPr>
        <p:spPr>
          <a:xfrm>
            <a:off x="2971800" y="984602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Reserved Unseen Dataset Evaluation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785cdd0013_0_65"/>
          <p:cNvSpPr txBox="1"/>
          <p:nvPr/>
        </p:nvSpPr>
        <p:spPr>
          <a:xfrm>
            <a:off x="457200" y="1572768"/>
            <a:ext cx="612648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5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1800" b="1" dirty="0">
                <a:solidFill>
                  <a:srgbClr val="1A1A1A"/>
                </a:solidFill>
                <a:latin typeface="Trebuchet MS"/>
              </a:rPr>
              <a:t>RESERVED UNSEEN SET</a:t>
            </a:r>
            <a:endParaRPr sz="1800" b="0" i="0" u="none" strike="noStrike" cap="none" dirty="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800" b="0" dirty="0">
                <a:solidFill>
                  <a:srgbClr val="1A1A1A"/>
                </a:solidFill>
                <a:latin typeface="Trebuchet MS"/>
              </a:rPr>
              <a:t>•  9 completely untouched clinical sessions, isolated from training, validation, feature scaling, threshold tuning and calibration.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800" b="1" dirty="0">
                <a:solidFill>
                  <a:srgbClr val="1A1A1A"/>
                </a:solidFill>
                <a:latin typeface="Trebuchet MS"/>
              </a:rPr>
              <a:t>OVERALL RESULT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800" b="1" dirty="0">
                <a:solidFill>
                  <a:srgbClr val="1A1A1A"/>
                </a:solidFill>
                <a:latin typeface="Trebuchet MS"/>
              </a:rPr>
              <a:t>•  66.67% accuracy</a:t>
            </a:r>
            <a:r>
              <a:rPr sz="1800" b="0" dirty="0">
                <a:solidFill>
                  <a:srgbClr val="1A1A1A"/>
                </a:solidFill>
                <a:latin typeface="Trebuchet MS"/>
              </a:rPr>
              <a:t> — 6 / 9 sessions correctly classified.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800" b="1" dirty="0">
                <a:solidFill>
                  <a:srgbClr val="1A1A1A"/>
                </a:solidFill>
                <a:latin typeface="Trebuchet MS"/>
              </a:rPr>
              <a:t>RESULT BY SEVERITY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800" b="0" dirty="0">
                <a:solidFill>
                  <a:srgbClr val="1A1A1A"/>
                </a:solidFill>
                <a:latin typeface="Trebuchet MS"/>
              </a:rPr>
              <a:t>•  Minimal / Mild:  4 / 4  (100%)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800" b="0" dirty="0">
                <a:solidFill>
                  <a:srgbClr val="1A1A1A"/>
                </a:solidFill>
                <a:latin typeface="Trebuchet MS"/>
              </a:rPr>
              <a:t>•  Moderate:  1 / 2  (50%)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800" b="0" dirty="0">
                <a:solidFill>
                  <a:srgbClr val="1A1A1A"/>
                </a:solidFill>
                <a:latin typeface="Trebuchet MS"/>
              </a:rPr>
              <a:t>•  Moderately Severe / Severe:  1 / 3  (33.3%)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800" b="1" dirty="0">
                <a:solidFill>
                  <a:srgbClr val="1A1A1A"/>
                </a:solidFill>
                <a:latin typeface="Trebuchet MS"/>
              </a:rPr>
              <a:t>LIMITATIONS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800" b="0" dirty="0">
                <a:solidFill>
                  <a:srgbClr val="1A1A1A"/>
                </a:solidFill>
                <a:latin typeface="Trebuchet MS"/>
              </a:rPr>
              <a:t>•  Small sample; only 9 severe cases; strong imbalance; Moderate overlaps </a:t>
            </a:r>
            <a:r>
              <a:rPr sz="1800" b="0" dirty="0" err="1">
                <a:solidFill>
                  <a:srgbClr val="1A1A1A"/>
                </a:solidFill>
                <a:latin typeface="Trebuchet MS"/>
              </a:rPr>
              <a:t>neighbours</a:t>
            </a:r>
            <a:r>
              <a:rPr sz="1800" b="0" dirty="0">
                <a:solidFill>
                  <a:srgbClr val="1A1A1A"/>
                </a:solidFill>
                <a:latin typeface="Trebuchet MS"/>
              </a:rPr>
              <a:t> — preliminary evidence, not diagnosis.</a:t>
            </a:r>
          </a:p>
        </p:txBody>
      </p:sp>
      <p:pic>
        <p:nvPicPr>
          <p:cNvPr id="173" name="Google Shape;173;g3785cdd0013_0_6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8;g3785cdd0013_0_8">
            <a:extLst>
              <a:ext uri="{FF2B5EF4-FFF2-40B4-BE49-F238E27FC236}">
                <a16:creationId xmlns:a16="http://schemas.microsoft.com/office/drawing/2014/main" id="{8E147D5D-5FD4-A858-FF7B-3CF96F42AE28}"/>
              </a:ext>
            </a:extLst>
          </p:cNvPr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200"/>
            </a:pPr>
            <a:r>
              <a:rPr lang="en-IN" sz="1200" dirty="0">
                <a:solidFill>
                  <a:schemeClr val="tx1"/>
                </a:solidFill>
                <a:latin typeface="Trebuchet MS" panose="020B0603020202020204" pitchFamily="34" charset="0"/>
              </a:rPr>
              <a:t>Detecting Depression using vocal cues</a:t>
            </a:r>
            <a:endParaRPr sz="12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19;g3785cdd0013_0_8">
            <a:extLst>
              <a:ext uri="{FF2B5EF4-FFF2-40B4-BE49-F238E27FC236}">
                <a16:creationId xmlns:a16="http://schemas.microsoft.com/office/drawing/2014/main" id="{EF580BB7-825B-8F16-A3E9-971E9E584C6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err="1"/>
              <a:t>SrujanJ_VishruthRallapalli_YuvrajRao_VivanJeevanNaik</a:t>
            </a:r>
            <a:endParaRPr dirty="0"/>
          </a:p>
        </p:txBody>
      </p:sp>
      <p:pic>
        <p:nvPicPr>
          <p:cNvPr id="174" name="Picture 173" descr="graph3_unse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874519"/>
            <a:ext cx="5120640" cy="275816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785cdd0013_0_65"/>
          <p:cNvSpPr txBox="1"/>
          <p:nvPr/>
        </p:nvSpPr>
        <p:spPr>
          <a:xfrm>
            <a:off x="2971800" y="984602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Conclusion and Team Contributions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785cdd0013_0_65"/>
          <p:cNvSpPr txBox="1"/>
          <p:nvPr/>
        </p:nvSpPr>
        <p:spPr>
          <a:xfrm>
            <a:off x="548640" y="1508760"/>
            <a:ext cx="1106424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5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1800" b="1" dirty="0">
                <a:solidFill>
                  <a:srgbClr val="1A1A1A"/>
                </a:solidFill>
                <a:latin typeface="Trebuchet MS"/>
              </a:rPr>
              <a:t>CONCLUSION</a:t>
            </a:r>
            <a:endParaRPr sz="1800" b="0" i="0" u="none" strike="noStrike" cap="none" dirty="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800" b="0" dirty="0">
                <a:solidFill>
                  <a:srgbClr val="1A1A1A"/>
                </a:solidFill>
                <a:latin typeface="Trebuchet MS"/>
              </a:rPr>
              <a:t>•  Participant-independent multimodal depression-screening prototype fusing acoustic, Wav2Vec 2.0 and BERT features.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800" b="0" dirty="0">
                <a:solidFill>
                  <a:srgbClr val="1A1A1A"/>
                </a:solidFill>
                <a:latin typeface="Trebuchet MS"/>
              </a:rPr>
              <a:t>•  Reduced complexity 847,749 → 225,413 parameters; participant-only filtering and leak-free group splitting.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800" b="0" dirty="0">
                <a:solidFill>
                  <a:srgbClr val="1A1A1A"/>
                </a:solidFill>
                <a:latin typeface="Trebuchet MS"/>
              </a:rPr>
              <a:t>•  Final test accuracy 83.78%; reserved unseen accuracy 66.67%.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800" b="0" dirty="0">
                <a:solidFill>
                  <a:srgbClr val="1A1A1A"/>
                </a:solidFill>
                <a:latin typeface="Trebuchet MS"/>
              </a:rPr>
              <a:t>•  Preliminary evidence that compact multimodal fusion can support participant-level screening.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800" b="1" dirty="0">
                <a:solidFill>
                  <a:srgbClr val="1A1A1A"/>
                </a:solidFill>
                <a:latin typeface="Trebuchet MS"/>
              </a:rPr>
              <a:t>TEAM CONTRIBUTIONS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800" b="1" dirty="0">
                <a:solidFill>
                  <a:srgbClr val="1A1A1A"/>
                </a:solidFill>
                <a:latin typeface="Trebuchet MS"/>
              </a:rPr>
              <a:t>•  Vivan Jeevan Naik</a:t>
            </a:r>
            <a:r>
              <a:rPr sz="1800" b="0" dirty="0">
                <a:solidFill>
                  <a:srgbClr val="1A1A1A"/>
                </a:solidFill>
                <a:latin typeface="Trebuchet MS"/>
              </a:rPr>
              <a:t> — multimodal neural architecture, tri-modal fusion, Stratified Group Splitting, training pipeline optimization.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800" b="1" dirty="0">
                <a:solidFill>
                  <a:srgbClr val="1A1A1A"/>
                </a:solidFill>
                <a:latin typeface="Trebuchet MS"/>
              </a:rPr>
              <a:t>•  Vishruth Rallapalli</a:t>
            </a:r>
            <a:r>
              <a:rPr sz="1800" b="0" dirty="0">
                <a:solidFill>
                  <a:srgbClr val="1A1A1A"/>
                </a:solidFill>
                <a:latin typeface="Trebuchet MS"/>
              </a:rPr>
              <a:t> — acoustic feature extraction, </a:t>
            </a:r>
            <a:r>
              <a:rPr sz="1800" b="0" dirty="0" err="1">
                <a:solidFill>
                  <a:srgbClr val="1A1A1A"/>
                </a:solidFill>
                <a:latin typeface="Trebuchet MS"/>
              </a:rPr>
              <a:t>eGeMAPS</a:t>
            </a:r>
            <a:r>
              <a:rPr sz="1800" b="0" dirty="0">
                <a:solidFill>
                  <a:srgbClr val="1A1A1A"/>
                </a:solidFill>
                <a:latin typeface="Trebuchet MS"/>
              </a:rPr>
              <a:t>, </a:t>
            </a:r>
            <a:r>
              <a:rPr lang="en-US" sz="1800" b="0" dirty="0" err="1">
                <a:solidFill>
                  <a:srgbClr val="1A1A1A"/>
                </a:solidFill>
                <a:latin typeface="Trebuchet MS"/>
              </a:rPr>
              <a:t>Librosa</a:t>
            </a:r>
            <a:r>
              <a:rPr lang="en-US" sz="1800" b="0" dirty="0">
                <a:solidFill>
                  <a:srgbClr val="1A1A1A"/>
                </a:solidFill>
                <a:latin typeface="Trebuchet MS"/>
              </a:rPr>
              <a:t> temporal features, audio cleaning &amp; silence suppression.</a:t>
            </a:r>
            <a:endParaRPr sz="1800" b="0" dirty="0">
              <a:solidFill>
                <a:srgbClr val="1A1A1A"/>
              </a:solidFill>
              <a:latin typeface="Trebuchet MS"/>
            </a:endParaRP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800" b="1" dirty="0">
                <a:solidFill>
                  <a:srgbClr val="1A1A1A"/>
                </a:solidFill>
                <a:latin typeface="Trebuchet MS"/>
              </a:rPr>
              <a:t>•  Yuvraj Rao</a:t>
            </a:r>
            <a:r>
              <a:rPr sz="1800" b="0" dirty="0">
                <a:solidFill>
                  <a:srgbClr val="1A1A1A"/>
                </a:solidFill>
                <a:latin typeface="Trebuchet MS"/>
              </a:rPr>
              <a:t> — transcript parsing, participant-only text extraction, BERT embedding pipeline.</a:t>
            </a:r>
          </a:p>
          <a:p>
            <a:pPr marL="0" indent="0" algn="l">
              <a:spcBef>
                <a:spcPts val="100"/>
              </a:spcBef>
              <a:spcAft>
                <a:spcPts val="500"/>
              </a:spcAft>
              <a:buNone/>
            </a:pPr>
            <a:r>
              <a:rPr sz="1800" b="1" dirty="0">
                <a:solidFill>
                  <a:srgbClr val="1A1A1A"/>
                </a:solidFill>
                <a:latin typeface="Trebuchet MS"/>
              </a:rPr>
              <a:t>•  Srujan Kumar J</a:t>
            </a:r>
            <a:r>
              <a:rPr sz="1800" b="0" dirty="0">
                <a:solidFill>
                  <a:srgbClr val="1A1A1A"/>
                </a:solidFill>
                <a:latin typeface="Trebuchet MS"/>
              </a:rPr>
              <a:t> — unseen-dataset benchmarking,</a:t>
            </a:r>
            <a:r>
              <a:rPr lang="en-IN" sz="1800" b="0" dirty="0">
                <a:solidFill>
                  <a:srgbClr val="1A1A1A"/>
                </a:solidFill>
                <a:latin typeface="Trebuchet MS"/>
              </a:rPr>
              <a:t> temperature calibration, clinical metric evaluation</a:t>
            </a:r>
            <a:r>
              <a:rPr sz="1800" b="0" dirty="0">
                <a:solidFill>
                  <a:srgbClr val="1A1A1A"/>
                </a:solidFill>
                <a:latin typeface="Trebuchet MS"/>
              </a:rPr>
              <a:t>.</a:t>
            </a:r>
          </a:p>
        </p:txBody>
      </p:sp>
      <p:pic>
        <p:nvPicPr>
          <p:cNvPr id="173" name="Google Shape;173;g3785cdd0013_0_6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8;g3785cdd0013_0_8">
            <a:extLst>
              <a:ext uri="{FF2B5EF4-FFF2-40B4-BE49-F238E27FC236}">
                <a16:creationId xmlns:a16="http://schemas.microsoft.com/office/drawing/2014/main" id="{8E147D5D-5FD4-A858-FF7B-3CF96F42AE28}"/>
              </a:ext>
            </a:extLst>
          </p:cNvPr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200"/>
            </a:pPr>
            <a:r>
              <a:rPr lang="en-IN" sz="1200" dirty="0">
                <a:solidFill>
                  <a:schemeClr val="tx1"/>
                </a:solidFill>
                <a:latin typeface="Trebuchet MS" panose="020B0603020202020204" pitchFamily="34" charset="0"/>
              </a:rPr>
              <a:t>Detecting Depression using vocal cues</a:t>
            </a:r>
            <a:endParaRPr sz="12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19;g3785cdd0013_0_8">
            <a:extLst>
              <a:ext uri="{FF2B5EF4-FFF2-40B4-BE49-F238E27FC236}">
                <a16:creationId xmlns:a16="http://schemas.microsoft.com/office/drawing/2014/main" id="{EF580BB7-825B-8F16-A3E9-971E9E584C6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err="1"/>
              <a:t>SrujanJ_VishruthRallapalli_YuvrajRao_VivanJeevanNaik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785cdd0013_0_74"/>
          <p:cNvSpPr txBox="1"/>
          <p:nvPr/>
        </p:nvSpPr>
        <p:spPr>
          <a:xfrm>
            <a:off x="2971800" y="1025102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References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g3785cdd0013_0_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8;g3785cdd0013_0_8">
            <a:extLst>
              <a:ext uri="{FF2B5EF4-FFF2-40B4-BE49-F238E27FC236}">
                <a16:creationId xmlns:a16="http://schemas.microsoft.com/office/drawing/2014/main" id="{1613A7D8-DCA4-B108-7308-F84F33D20977}"/>
              </a:ext>
            </a:extLst>
          </p:cNvPr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200"/>
            </a:pPr>
            <a:r>
              <a:rPr lang="en-IN" sz="1200" dirty="0">
                <a:solidFill>
                  <a:schemeClr val="tx1"/>
                </a:solidFill>
                <a:latin typeface="Trebuchet MS" panose="020B0603020202020204" pitchFamily="34" charset="0"/>
              </a:rPr>
              <a:t>Detecting Depression using vocal cues</a:t>
            </a:r>
            <a:endParaRPr sz="12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19;g3785cdd0013_0_8">
            <a:extLst>
              <a:ext uri="{FF2B5EF4-FFF2-40B4-BE49-F238E27FC236}">
                <a16:creationId xmlns:a16="http://schemas.microsoft.com/office/drawing/2014/main" id="{B2DE3342-EC3F-671E-7A2A-E923FB35B36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err="1"/>
              <a:t>SrujanJ_VishruthRallapalli_YuvrajRao_VivanJeevanNaik</a:t>
            </a:r>
            <a:endParaRPr dirty="0"/>
          </a:p>
        </p:txBody>
      </p:sp>
      <p:sp>
        <p:nvSpPr>
          <p:cNvPr id="7" name="Google Shape;221;p10">
            <a:extLst>
              <a:ext uri="{FF2B5EF4-FFF2-40B4-BE49-F238E27FC236}">
                <a16:creationId xmlns:a16="http://schemas.microsoft.com/office/drawing/2014/main" id="{CF9D15E2-A022-DC2F-E2B4-0C68770BFBCF}"/>
              </a:ext>
            </a:extLst>
          </p:cNvPr>
          <p:cNvSpPr txBox="1"/>
          <p:nvPr/>
        </p:nvSpPr>
        <p:spPr>
          <a:xfrm>
            <a:off x="403123" y="1739874"/>
            <a:ext cx="11051458" cy="4719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spcBef>
                <a:spcPts val="100"/>
              </a:spcBef>
              <a:spcAft>
                <a:spcPts val="1200"/>
              </a:spcAft>
              <a:buFont typeface="Wingdings" panose="05000000000000000000" pitchFamily="2" charset="2"/>
              <a:buNone/>
            </a:pPr>
            <a:r>
              <a:rPr sz="2000" b="1" dirty="0">
                <a:solidFill>
                  <a:srgbClr val="1A1A1A"/>
                </a:solidFill>
                <a:latin typeface="Trebuchet MS"/>
              </a:rPr>
              <a:t>[1]  </a:t>
            </a:r>
            <a:r>
              <a:rPr sz="2000" b="0" dirty="0" err="1">
                <a:solidFill>
                  <a:srgbClr val="1A1A1A"/>
                </a:solidFill>
                <a:latin typeface="Trebuchet MS"/>
              </a:rPr>
              <a:t>Alghowinem</a:t>
            </a:r>
            <a:r>
              <a:rPr sz="2000" b="0" dirty="0">
                <a:solidFill>
                  <a:srgbClr val="1A1A1A"/>
                </a:solidFill>
                <a:latin typeface="Trebuchet MS"/>
              </a:rPr>
              <a:t>, S., Goecke, R., Wagner, M., Parker, G. and Breakspear, M. (2013) ‘Detecting depression: A comparison between spontaneous and read speech’, IEEE ICASSP.</a:t>
            </a:r>
          </a:p>
          <a:p>
            <a:pPr marL="0" indent="0" algn="l">
              <a:spcBef>
                <a:spcPts val="100"/>
              </a:spcBef>
              <a:spcAft>
                <a:spcPts val="1200"/>
              </a:spcAft>
              <a:buNone/>
            </a:pPr>
            <a:r>
              <a:rPr sz="2000" b="1" dirty="0">
                <a:solidFill>
                  <a:srgbClr val="1A1A1A"/>
                </a:solidFill>
                <a:latin typeface="Trebuchet MS"/>
              </a:rPr>
              <a:t>[2]  </a:t>
            </a:r>
            <a:r>
              <a:rPr sz="2000" b="0" dirty="0">
                <a:solidFill>
                  <a:srgbClr val="1A1A1A"/>
                </a:solidFill>
                <a:latin typeface="Trebuchet MS"/>
              </a:rPr>
              <a:t>Cummins, N. et al. (2015) ‘A review of depression and suicide risk assessment using speech analysis’, Speech Communication.</a:t>
            </a:r>
          </a:p>
          <a:p>
            <a:pPr marL="0" indent="0" algn="l">
              <a:spcBef>
                <a:spcPts val="100"/>
              </a:spcBef>
              <a:spcAft>
                <a:spcPts val="1200"/>
              </a:spcAft>
              <a:buNone/>
            </a:pPr>
            <a:r>
              <a:rPr sz="2000" b="1" dirty="0">
                <a:solidFill>
                  <a:srgbClr val="1A1A1A"/>
                </a:solidFill>
                <a:latin typeface="Trebuchet MS"/>
              </a:rPr>
              <a:t>[3]  </a:t>
            </a:r>
            <a:r>
              <a:rPr sz="2000" b="0" dirty="0">
                <a:solidFill>
                  <a:srgbClr val="1A1A1A"/>
                </a:solidFill>
                <a:latin typeface="Trebuchet MS"/>
              </a:rPr>
              <a:t>Morales, M.R.A., Levitan, R. and Levitan, S.I. (2018) ‘Speech vs. text: A comparative study of multimodal depression detection’, </a:t>
            </a:r>
            <a:r>
              <a:rPr sz="2000" b="0" dirty="0" err="1">
                <a:solidFill>
                  <a:srgbClr val="1A1A1A"/>
                </a:solidFill>
                <a:latin typeface="Trebuchet MS"/>
              </a:rPr>
              <a:t>Interspeech</a:t>
            </a:r>
            <a:r>
              <a:rPr sz="2000" b="0" dirty="0">
                <a:solidFill>
                  <a:srgbClr val="1A1A1A"/>
                </a:solidFill>
                <a:latin typeface="Trebuchet MS"/>
              </a:rPr>
              <a:t>.</a:t>
            </a:r>
          </a:p>
          <a:p>
            <a:pPr marL="0" indent="0" algn="l">
              <a:spcBef>
                <a:spcPts val="100"/>
              </a:spcBef>
              <a:spcAft>
                <a:spcPts val="1200"/>
              </a:spcAft>
              <a:buNone/>
            </a:pPr>
            <a:r>
              <a:rPr sz="2000" b="1" dirty="0">
                <a:solidFill>
                  <a:srgbClr val="1A1A1A"/>
                </a:solidFill>
                <a:latin typeface="Trebuchet MS"/>
              </a:rPr>
              <a:t>[4]  </a:t>
            </a:r>
            <a:r>
              <a:rPr sz="2000" b="0" dirty="0" err="1">
                <a:solidFill>
                  <a:srgbClr val="1A1A1A"/>
                </a:solidFill>
                <a:latin typeface="Trebuchet MS"/>
              </a:rPr>
              <a:t>Ringeval</a:t>
            </a:r>
            <a:r>
              <a:rPr sz="2000" b="0" dirty="0">
                <a:solidFill>
                  <a:srgbClr val="1A1A1A"/>
                </a:solidFill>
                <a:latin typeface="Trebuchet MS"/>
              </a:rPr>
              <a:t>, F. et al. (2019) ‘AVEC 2019 Workshop and Challenge’.</a:t>
            </a:r>
          </a:p>
          <a:p>
            <a:pPr marL="0" indent="0" algn="l">
              <a:spcBef>
                <a:spcPts val="100"/>
              </a:spcBef>
              <a:spcAft>
                <a:spcPts val="1200"/>
              </a:spcAft>
              <a:buNone/>
            </a:pPr>
            <a:r>
              <a:rPr sz="2000" b="1" dirty="0">
                <a:solidFill>
                  <a:srgbClr val="1A1A1A"/>
                </a:solidFill>
                <a:latin typeface="Trebuchet MS"/>
              </a:rPr>
              <a:t>[5]  </a:t>
            </a:r>
            <a:r>
              <a:rPr sz="2000" b="0" dirty="0">
                <a:solidFill>
                  <a:srgbClr val="1A1A1A"/>
                </a:solidFill>
                <a:latin typeface="Trebuchet MS"/>
              </a:rPr>
              <a:t>Eyben, F. et al. (2016) ‘The Geneva Minimalistic Acoustic Parameter Set (</a:t>
            </a:r>
            <a:r>
              <a:rPr sz="2000" b="0" dirty="0" err="1">
                <a:solidFill>
                  <a:srgbClr val="1A1A1A"/>
                </a:solidFill>
                <a:latin typeface="Trebuchet MS"/>
              </a:rPr>
              <a:t>GeMAPS</a:t>
            </a:r>
            <a:r>
              <a:rPr sz="2000" b="0" dirty="0">
                <a:solidFill>
                  <a:srgbClr val="1A1A1A"/>
                </a:solidFill>
                <a:latin typeface="Trebuchet MS"/>
              </a:rPr>
              <a:t>) for Voice Research and Affective Computing’, IEEE TAC.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785cdd0013_0_83"/>
          <p:cNvSpPr/>
          <p:nvPr/>
        </p:nvSpPr>
        <p:spPr>
          <a:xfrm>
            <a:off x="4090219" y="2349910"/>
            <a:ext cx="5530271" cy="10790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Thank You</a:t>
            </a:r>
            <a:endParaRPr sz="1400" b="0" i="0" u="none" strike="noStrike" cap="none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1583</Words>
  <Application>Microsoft Office PowerPoint</Application>
  <PresentationFormat>Widescreen</PresentationFormat>
  <Paragraphs>171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Trebuchet MS</vt:lpstr>
      <vt:lpstr>Wingdings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Srujan J</cp:lastModifiedBy>
  <cp:revision>5</cp:revision>
  <dcterms:created xsi:type="dcterms:W3CDTF">2023-02-02T07:40:50Z</dcterms:created>
  <dcterms:modified xsi:type="dcterms:W3CDTF">2026-09-01T18:02:44Z</dcterms:modified>
</cp:coreProperties>
</file>