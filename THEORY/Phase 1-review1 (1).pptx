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2"/>
  </p:notesMasterIdLst>
  <p:sldIdLst>
    <p:sldId id="256" r:id="rId2"/>
    <p:sldId id="257" r:id="rId3"/>
    <p:sldId id="258" r:id="rId4"/>
    <p:sldId id="265" r:id="rId5"/>
    <p:sldId id="266" r:id="rId6"/>
    <p:sldId id="267" r:id="rId7"/>
    <p:sldId id="259" r:id="rId8"/>
    <p:sldId id="270" r:id="rId9"/>
    <p:sldId id="269" r:id="rId10"/>
    <p:sldId id="268" r:id="rId11"/>
    <p:sldId id="272" r:id="rId12"/>
    <p:sldId id="273" r:id="rId13"/>
    <p:sldId id="274" r:id="rId14"/>
    <p:sldId id="275" r:id="rId15"/>
    <p:sldId id="276" r:id="rId16"/>
    <p:sldId id="287" r:id="rId17"/>
    <p:sldId id="288" r:id="rId18"/>
    <p:sldId id="277" r:id="rId19"/>
    <p:sldId id="260" r:id="rId20"/>
    <p:sldId id="279" r:id="rId21"/>
    <p:sldId id="261" r:id="rId22"/>
    <p:sldId id="284" r:id="rId23"/>
    <p:sldId id="289" r:id="rId24"/>
    <p:sldId id="290" r:id="rId25"/>
    <p:sldId id="281" r:id="rId26"/>
    <p:sldId id="282" r:id="rId27"/>
    <p:sldId id="285" r:id="rId28"/>
    <p:sldId id="286" r:id="rId29"/>
    <p:sldId id="263" r:id="rId30"/>
    <p:sldId id="264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3" roundtripDataSignature="AMtx7mjsQ9BQIw5gp6v/3ENSYpIg7BIh/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 snapToGrid="0">
      <p:cViewPr varScale="1">
        <p:scale>
          <a:sx n="50" d="100"/>
          <a:sy n="50" d="100"/>
        </p:scale>
        <p:origin x="48" y="6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8" name="Google Shape;88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89" name="Google Shape;89;p3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Title of the Project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0" name="Google Shape;100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01" name="Google Shape;101;p4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Title of the Project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2" name="Google Shape;112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13" name="Google Shape;113;p5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Title of the Project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9889B034-F7D0-5476-20F2-5172AE9B9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>
            <a:extLst>
              <a:ext uri="{FF2B5EF4-FFF2-40B4-BE49-F238E27FC236}">
                <a16:creationId xmlns:a16="http://schemas.microsoft.com/office/drawing/2014/main" id="{9F1108A7-72FC-80C5-9389-C2FCF6CA49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4089E67C-82E5-1501-988E-0BD98F362A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19DBBDC1-1C7E-5B12-BD59-FFD32549B49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13" name="Google Shape;113;p5:notes">
            <a:extLst>
              <a:ext uri="{FF2B5EF4-FFF2-40B4-BE49-F238E27FC236}">
                <a16:creationId xmlns:a16="http://schemas.microsoft.com/office/drawing/2014/main" id="{05BD61C3-F8FA-73CF-E603-FF7DB3E8205B}"/>
              </a:ext>
            </a:extLst>
          </p:cNvPr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Title of the Project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242442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BC1BCE43-336F-81E9-0F7F-449BB18C9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>
            <a:extLst>
              <a:ext uri="{FF2B5EF4-FFF2-40B4-BE49-F238E27FC236}">
                <a16:creationId xmlns:a16="http://schemas.microsoft.com/office/drawing/2014/main" id="{2B538699-DA4F-AB0D-425E-5D3EF7F2E3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2164929A-3A25-6895-2F77-0FA4BE8C6D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67469892-9736-A389-A86F-721A35C47C4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13" name="Google Shape;113;p5:notes">
            <a:extLst>
              <a:ext uri="{FF2B5EF4-FFF2-40B4-BE49-F238E27FC236}">
                <a16:creationId xmlns:a16="http://schemas.microsoft.com/office/drawing/2014/main" id="{62C2E6D7-30A0-2C9D-B656-FD6B4DABB483}"/>
              </a:ext>
            </a:extLst>
          </p:cNvPr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Title of the Project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818648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20FBF140-DDFD-0A9B-4FEB-5B8275B90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>
            <a:extLst>
              <a:ext uri="{FF2B5EF4-FFF2-40B4-BE49-F238E27FC236}">
                <a16:creationId xmlns:a16="http://schemas.microsoft.com/office/drawing/2014/main" id="{9E792244-5A17-27FA-EF7F-BF146F4E18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A16CDA88-0080-949C-9126-28A043E550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93D06713-0F03-B8F4-5785-47A8C888AB4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113" name="Google Shape;113;p5:notes">
            <a:extLst>
              <a:ext uri="{FF2B5EF4-FFF2-40B4-BE49-F238E27FC236}">
                <a16:creationId xmlns:a16="http://schemas.microsoft.com/office/drawing/2014/main" id="{B1BB093F-3E70-BF85-E303-2B696213015F}"/>
              </a:ext>
            </a:extLst>
          </p:cNvPr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Title of the Project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282389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7293AF59-0D85-F201-F396-49040F604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>
            <a:extLst>
              <a:ext uri="{FF2B5EF4-FFF2-40B4-BE49-F238E27FC236}">
                <a16:creationId xmlns:a16="http://schemas.microsoft.com/office/drawing/2014/main" id="{3BA69701-D579-0A61-471B-35713089B6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5F8DDA98-1F68-6D53-3365-FDD9A46EDE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BBD201B5-7A43-99B2-2C91-90B635865E7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113" name="Google Shape;113;p5:notes">
            <a:extLst>
              <a:ext uri="{FF2B5EF4-FFF2-40B4-BE49-F238E27FC236}">
                <a16:creationId xmlns:a16="http://schemas.microsoft.com/office/drawing/2014/main" id="{2EC8EE00-46B3-CDB5-9C83-059FB71D1845}"/>
              </a:ext>
            </a:extLst>
          </p:cNvPr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Title of the Project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258331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9A12D93F-7FCD-EAF3-1C70-EF3E4F3BC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>
            <a:extLst>
              <a:ext uri="{FF2B5EF4-FFF2-40B4-BE49-F238E27FC236}">
                <a16:creationId xmlns:a16="http://schemas.microsoft.com/office/drawing/2014/main" id="{566CD10D-CD2B-D13F-AD3B-EB144FCCD4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56E3737B-BA5D-038E-3E49-2AD5BEA123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1CE521A7-E4B9-6239-4C85-F3C217C7416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113" name="Google Shape;113;p5:notes">
            <a:extLst>
              <a:ext uri="{FF2B5EF4-FFF2-40B4-BE49-F238E27FC236}">
                <a16:creationId xmlns:a16="http://schemas.microsoft.com/office/drawing/2014/main" id="{60CE6942-F7F0-7ADD-5A04-96C0FF1A9869}"/>
              </a:ext>
            </a:extLst>
          </p:cNvPr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Title of the Project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139980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774F1B5A-7982-EBB5-C2DA-CD8031C71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>
            <a:extLst>
              <a:ext uri="{FF2B5EF4-FFF2-40B4-BE49-F238E27FC236}">
                <a16:creationId xmlns:a16="http://schemas.microsoft.com/office/drawing/2014/main" id="{58DD1CF1-190B-BCC7-2BCF-646E298341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D7B51D62-5853-68AF-3C2D-F7AF30AB1D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A292CA80-DB9F-AEDF-64AD-3B9D1092397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113" name="Google Shape;113;p5:notes">
            <a:extLst>
              <a:ext uri="{FF2B5EF4-FFF2-40B4-BE49-F238E27FC236}">
                <a16:creationId xmlns:a16="http://schemas.microsoft.com/office/drawing/2014/main" id="{CE7ACCCD-A133-FDA9-84D5-BD1025D34877}"/>
              </a:ext>
            </a:extLst>
          </p:cNvPr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Title of the Project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053478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D2C423E3-03E0-32CC-4408-1BBDF7555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>
            <a:extLst>
              <a:ext uri="{FF2B5EF4-FFF2-40B4-BE49-F238E27FC236}">
                <a16:creationId xmlns:a16="http://schemas.microsoft.com/office/drawing/2014/main" id="{E8790C6C-3918-2E4B-3D4C-A401007956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7C59728B-8C2A-8B12-B515-69A374EE5C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F9FF8EC7-2A54-D137-D249-EC9FE02D68D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113" name="Google Shape;113;p5:notes">
            <a:extLst>
              <a:ext uri="{FF2B5EF4-FFF2-40B4-BE49-F238E27FC236}">
                <a16:creationId xmlns:a16="http://schemas.microsoft.com/office/drawing/2014/main" id="{90ADAB7C-725E-D101-F507-72D3E9AE9AE3}"/>
              </a:ext>
            </a:extLst>
          </p:cNvPr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Title of the Project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201150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0B43B7AD-EE62-EA75-980F-22058914E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>
            <a:extLst>
              <a:ext uri="{FF2B5EF4-FFF2-40B4-BE49-F238E27FC236}">
                <a16:creationId xmlns:a16="http://schemas.microsoft.com/office/drawing/2014/main" id="{E699C102-FC4F-2D8F-4CC4-BD3DA3E941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96D089CC-AC53-CD56-3B68-7A1F438C69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64FC8473-BC8B-CDF6-5212-462FF75BE3A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113" name="Google Shape;113;p5:notes">
            <a:extLst>
              <a:ext uri="{FF2B5EF4-FFF2-40B4-BE49-F238E27FC236}">
                <a16:creationId xmlns:a16="http://schemas.microsoft.com/office/drawing/2014/main" id="{55B9F08C-2519-DBFF-DC60-3B2A12FBC6C3}"/>
              </a:ext>
            </a:extLst>
          </p:cNvPr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Title of the Project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681233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A0678992-B15B-CA31-5201-1ABDE5AF2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>
            <a:extLst>
              <a:ext uri="{FF2B5EF4-FFF2-40B4-BE49-F238E27FC236}">
                <a16:creationId xmlns:a16="http://schemas.microsoft.com/office/drawing/2014/main" id="{8FCA770B-EFBA-55C0-FF2B-C01694E0D3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8327175E-04F6-0F9D-F8AE-89BBBDAB9A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024CB19B-B847-1B71-1A8C-A513A17C3C1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113" name="Google Shape;113;p5:notes">
            <a:extLst>
              <a:ext uri="{FF2B5EF4-FFF2-40B4-BE49-F238E27FC236}">
                <a16:creationId xmlns:a16="http://schemas.microsoft.com/office/drawing/2014/main" id="{ECB9FD07-05E6-8688-5409-52041B685692}"/>
              </a:ext>
            </a:extLst>
          </p:cNvPr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Title of the Project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8418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37289696-B406-7B65-969E-E7C60CC53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>
            <a:extLst>
              <a:ext uri="{FF2B5EF4-FFF2-40B4-BE49-F238E27FC236}">
                <a16:creationId xmlns:a16="http://schemas.microsoft.com/office/drawing/2014/main" id="{08253C3A-6A7C-01AF-5214-6875ED219F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66235205-AEEE-2D3A-3037-E612A9B7F9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6F06E383-A51E-8E3C-16FE-2156F49B9A7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113" name="Google Shape;113;p5:notes">
            <a:extLst>
              <a:ext uri="{FF2B5EF4-FFF2-40B4-BE49-F238E27FC236}">
                <a16:creationId xmlns:a16="http://schemas.microsoft.com/office/drawing/2014/main" id="{B1C42667-B3A6-774B-0AB1-285A95412F66}"/>
              </a:ext>
            </a:extLst>
          </p:cNvPr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Title of the Project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219156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F7739A87-11D4-B698-D319-873432CA9D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>
            <a:extLst>
              <a:ext uri="{FF2B5EF4-FFF2-40B4-BE49-F238E27FC236}">
                <a16:creationId xmlns:a16="http://schemas.microsoft.com/office/drawing/2014/main" id="{25037655-28DE-978F-D0C4-18DCECE004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5:notes">
            <a:extLst>
              <a:ext uri="{FF2B5EF4-FFF2-40B4-BE49-F238E27FC236}">
                <a16:creationId xmlns:a16="http://schemas.microsoft.com/office/drawing/2014/main" id="{7A2B0197-4BCC-121D-1ADA-3103D6BEDF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2" name="Google Shape;112;p5:notes">
            <a:extLst>
              <a:ext uri="{FF2B5EF4-FFF2-40B4-BE49-F238E27FC236}">
                <a16:creationId xmlns:a16="http://schemas.microsoft.com/office/drawing/2014/main" id="{DA582B58-528D-80AF-2C24-367C722E38F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113" name="Google Shape;113;p5:notes">
            <a:extLst>
              <a:ext uri="{FF2B5EF4-FFF2-40B4-BE49-F238E27FC236}">
                <a16:creationId xmlns:a16="http://schemas.microsoft.com/office/drawing/2014/main" id="{B4E40F2B-C8BD-A032-9D42-7C3FDEAF36EA}"/>
              </a:ext>
            </a:extLst>
          </p:cNvPr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Title of the Project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8260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125" name="Google Shape;125;p6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Title of the Project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>
          <a:extLst>
            <a:ext uri="{FF2B5EF4-FFF2-40B4-BE49-F238E27FC236}">
              <a16:creationId xmlns:a16="http://schemas.microsoft.com/office/drawing/2014/main" id="{F7E3E0BF-05C4-0FD9-9C84-A2CA3761E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>
            <a:extLst>
              <a:ext uri="{FF2B5EF4-FFF2-40B4-BE49-F238E27FC236}">
                <a16:creationId xmlns:a16="http://schemas.microsoft.com/office/drawing/2014/main" id="{D4D1221E-0657-1052-3E59-CF032714CC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6:notes">
            <a:extLst>
              <a:ext uri="{FF2B5EF4-FFF2-40B4-BE49-F238E27FC236}">
                <a16:creationId xmlns:a16="http://schemas.microsoft.com/office/drawing/2014/main" id="{D94C6E0E-7F45-D4D6-C167-760CFC52A7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6:notes">
            <a:extLst>
              <a:ext uri="{FF2B5EF4-FFF2-40B4-BE49-F238E27FC236}">
                <a16:creationId xmlns:a16="http://schemas.microsoft.com/office/drawing/2014/main" id="{48C05499-7138-2121-AA00-8C75C92FBBD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125" name="Google Shape;125;p6:notes">
            <a:extLst>
              <a:ext uri="{FF2B5EF4-FFF2-40B4-BE49-F238E27FC236}">
                <a16:creationId xmlns:a16="http://schemas.microsoft.com/office/drawing/2014/main" id="{23DBF740-D843-9A6C-6319-05B642959AC5}"/>
              </a:ext>
            </a:extLst>
          </p:cNvPr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Title of the Project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958575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004079b4d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g3004079b4d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6" name="Google Shape;136;g3004079b4df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137" name="Google Shape;137;g3004079b4df_0_0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Title of the Project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457A2BEA-2325-5D91-ADBF-542076460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004079b4df_0_0:notes">
            <a:extLst>
              <a:ext uri="{FF2B5EF4-FFF2-40B4-BE49-F238E27FC236}">
                <a16:creationId xmlns:a16="http://schemas.microsoft.com/office/drawing/2014/main" id="{CACFAF11-8FEC-64F3-6755-6FD0222C04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g3004079b4df_0_0:notes">
            <a:extLst>
              <a:ext uri="{FF2B5EF4-FFF2-40B4-BE49-F238E27FC236}">
                <a16:creationId xmlns:a16="http://schemas.microsoft.com/office/drawing/2014/main" id="{5A0A7E33-1BE5-2DEB-1061-BBB4C5A66E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6" name="Google Shape;136;g3004079b4df_0_0:notes">
            <a:extLst>
              <a:ext uri="{FF2B5EF4-FFF2-40B4-BE49-F238E27FC236}">
                <a16:creationId xmlns:a16="http://schemas.microsoft.com/office/drawing/2014/main" id="{451433B7-429B-16E2-BF98-EB6B3FDE37B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137" name="Google Shape;137;g3004079b4df_0_0:notes">
            <a:extLst>
              <a:ext uri="{FF2B5EF4-FFF2-40B4-BE49-F238E27FC236}">
                <a16:creationId xmlns:a16="http://schemas.microsoft.com/office/drawing/2014/main" id="{AA90F45C-F014-FAC4-F51A-8BE67579DD6D}"/>
              </a:ext>
            </a:extLst>
          </p:cNvPr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Title of the Project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2164687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113B561F-EE9B-8C7A-C44E-6B28C762B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004079b4df_0_0:notes">
            <a:extLst>
              <a:ext uri="{FF2B5EF4-FFF2-40B4-BE49-F238E27FC236}">
                <a16:creationId xmlns:a16="http://schemas.microsoft.com/office/drawing/2014/main" id="{5DB13031-9990-0D39-8158-B07B0AE80C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g3004079b4df_0_0:notes">
            <a:extLst>
              <a:ext uri="{FF2B5EF4-FFF2-40B4-BE49-F238E27FC236}">
                <a16:creationId xmlns:a16="http://schemas.microsoft.com/office/drawing/2014/main" id="{C7CD4615-55B8-070F-8474-A85A027FDA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6" name="Google Shape;136;g3004079b4df_0_0:notes">
            <a:extLst>
              <a:ext uri="{FF2B5EF4-FFF2-40B4-BE49-F238E27FC236}">
                <a16:creationId xmlns:a16="http://schemas.microsoft.com/office/drawing/2014/main" id="{3E6B79BF-A778-78F1-35C8-4F6CA901EC3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137" name="Google Shape;137;g3004079b4df_0_0:notes">
            <a:extLst>
              <a:ext uri="{FF2B5EF4-FFF2-40B4-BE49-F238E27FC236}">
                <a16:creationId xmlns:a16="http://schemas.microsoft.com/office/drawing/2014/main" id="{EE885339-28E4-3EA8-FFA8-2495C0077FA8}"/>
              </a:ext>
            </a:extLst>
          </p:cNvPr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Title of the Project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7897804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1310AF74-71A3-9649-AC6F-B10B6FED8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004079b4df_0_0:notes">
            <a:extLst>
              <a:ext uri="{FF2B5EF4-FFF2-40B4-BE49-F238E27FC236}">
                <a16:creationId xmlns:a16="http://schemas.microsoft.com/office/drawing/2014/main" id="{6126AAC4-CBD2-B906-084D-27C95B366D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g3004079b4df_0_0:notes">
            <a:extLst>
              <a:ext uri="{FF2B5EF4-FFF2-40B4-BE49-F238E27FC236}">
                <a16:creationId xmlns:a16="http://schemas.microsoft.com/office/drawing/2014/main" id="{4C1C524E-5909-54AB-7D1F-6D212F2F31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6" name="Google Shape;136;g3004079b4df_0_0:notes">
            <a:extLst>
              <a:ext uri="{FF2B5EF4-FFF2-40B4-BE49-F238E27FC236}">
                <a16:creationId xmlns:a16="http://schemas.microsoft.com/office/drawing/2014/main" id="{AC93D97C-DB8E-9AB0-B0F1-4CC7DEBFD4A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sp>
        <p:nvSpPr>
          <p:cNvPr id="137" name="Google Shape;137;g3004079b4df_0_0:notes">
            <a:extLst>
              <a:ext uri="{FF2B5EF4-FFF2-40B4-BE49-F238E27FC236}">
                <a16:creationId xmlns:a16="http://schemas.microsoft.com/office/drawing/2014/main" id="{415F2B30-1E7D-C738-9CE2-3BF074539C61}"/>
              </a:ext>
            </a:extLst>
          </p:cNvPr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Title of the Project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9695893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8CC8D47-A646-EDE2-1C3B-09A7FEAC9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9:notes">
            <a:extLst>
              <a:ext uri="{FF2B5EF4-FFF2-40B4-BE49-F238E27FC236}">
                <a16:creationId xmlns:a16="http://schemas.microsoft.com/office/drawing/2014/main" id="{E4B43EDA-904E-9C5E-32B2-CD27DC2753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29:notes">
            <a:extLst>
              <a:ext uri="{FF2B5EF4-FFF2-40B4-BE49-F238E27FC236}">
                <a16:creationId xmlns:a16="http://schemas.microsoft.com/office/drawing/2014/main" id="{DCEEF263-E762-56DE-01BE-FDAFFDCEAF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4321603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2F378A96-9CD7-79C1-7F3B-1AD318D2B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9:notes">
            <a:extLst>
              <a:ext uri="{FF2B5EF4-FFF2-40B4-BE49-F238E27FC236}">
                <a16:creationId xmlns:a16="http://schemas.microsoft.com/office/drawing/2014/main" id="{681B3818-88BC-4AC4-6A72-FBC749211D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29:notes">
            <a:extLst>
              <a:ext uri="{FF2B5EF4-FFF2-40B4-BE49-F238E27FC236}">
                <a16:creationId xmlns:a16="http://schemas.microsoft.com/office/drawing/2014/main" id="{89350A6F-BAD3-8A10-CA89-93FCAD39CD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848639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FB838BB-540F-CA7B-79E2-659A89487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9:notes">
            <a:extLst>
              <a:ext uri="{FF2B5EF4-FFF2-40B4-BE49-F238E27FC236}">
                <a16:creationId xmlns:a16="http://schemas.microsoft.com/office/drawing/2014/main" id="{F264D2BD-BBEC-CC54-2005-813A65C49C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29:notes">
            <a:extLst>
              <a:ext uri="{FF2B5EF4-FFF2-40B4-BE49-F238E27FC236}">
                <a16:creationId xmlns:a16="http://schemas.microsoft.com/office/drawing/2014/main" id="{BD2A82EE-5EE9-ABE8-3720-7AD925E4CF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2670032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7BA17B88-4FEC-7797-E53D-1D877E01A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9:notes">
            <a:extLst>
              <a:ext uri="{FF2B5EF4-FFF2-40B4-BE49-F238E27FC236}">
                <a16:creationId xmlns:a16="http://schemas.microsoft.com/office/drawing/2014/main" id="{32C5CBF3-DB21-78B3-61E1-24C373914B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29:notes">
            <a:extLst>
              <a:ext uri="{FF2B5EF4-FFF2-40B4-BE49-F238E27FC236}">
                <a16:creationId xmlns:a16="http://schemas.microsoft.com/office/drawing/2014/main" id="{2CFF71EC-F002-969F-89CC-176664812A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4214704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3509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86812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4874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135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752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051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74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218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11013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324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159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6502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"/>
          <p:cNvSpPr/>
          <p:nvPr/>
        </p:nvSpPr>
        <p:spPr>
          <a:xfrm>
            <a:off x="2057400" y="1219200"/>
            <a:ext cx="7924800" cy="144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latin typeface="Trebuchet MS"/>
                <a:ea typeface="Trebuchet MS"/>
                <a:cs typeface="Trebuchet MS"/>
                <a:sym typeface="Trebuchet MS"/>
              </a:rPr>
              <a:t>UE23CS3</a:t>
            </a:r>
            <a:r>
              <a:rPr lang="en-US" sz="2800" b="1" dirty="0"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r>
              <a:rPr lang="en-US" sz="2800" b="1" i="0" u="none" strike="noStrike" cap="none" dirty="0">
                <a:latin typeface="Trebuchet MS"/>
                <a:ea typeface="Trebuchet MS"/>
                <a:cs typeface="Trebuchet MS"/>
                <a:sym typeface="Trebuchet MS"/>
              </a:rPr>
              <a:t>0A – Capstone Project Approval</a:t>
            </a:r>
            <a:endParaRPr dirty="0"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1" i="0" u="none" strike="noStrike" cap="none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1" i="0" u="none" strike="noStrike" cap="none" dirty="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84" name="Google Shape;84;p2"/>
          <p:cNvPicPr preferRelativeResize="0"/>
          <p:nvPr/>
        </p:nvPicPr>
        <p:blipFill rotWithShape="1">
          <a:blip r:embed="rId3">
            <a:alphaModFix/>
          </a:blip>
          <a:srcRect t="4970"/>
          <a:stretch/>
        </p:blipFill>
        <p:spPr>
          <a:xfrm>
            <a:off x="10580722" y="1"/>
            <a:ext cx="1281312" cy="156035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08;g3785cdd0013_0_0">
            <a:extLst>
              <a:ext uri="{FF2B5EF4-FFF2-40B4-BE49-F238E27FC236}">
                <a16:creationId xmlns:a16="http://schemas.microsoft.com/office/drawing/2014/main" id="{47CE0D3F-F372-8831-DF7A-7ED362BB0BBD}"/>
              </a:ext>
            </a:extLst>
          </p:cNvPr>
          <p:cNvSpPr txBox="1"/>
          <p:nvPr/>
        </p:nvSpPr>
        <p:spPr>
          <a:xfrm>
            <a:off x="1828800" y="3429000"/>
            <a:ext cx="8458200" cy="2922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buSzPts val="2400"/>
            </a:pPr>
            <a:r>
              <a:rPr lang="en-US" sz="2400" dirty="0">
                <a:solidFill>
                  <a:srgbClr val="E48312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Title   : Detecting Depression using vocal cues </a:t>
            </a:r>
            <a:endParaRPr sz="2400" dirty="0">
              <a:solidFill>
                <a:srgbClr val="E4831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buSzPts val="2400"/>
            </a:pPr>
            <a:r>
              <a:rPr lang="en-US" sz="2400" dirty="0">
                <a:solidFill>
                  <a:srgbClr val="E48312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ID       :  PW26_CBH_04    </a:t>
            </a:r>
            <a:endParaRPr sz="2400" dirty="0">
              <a:solidFill>
                <a:srgbClr val="E4831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buSzPts val="2400"/>
            </a:pPr>
            <a:r>
              <a:rPr lang="en-US" sz="2400" dirty="0">
                <a:solidFill>
                  <a:srgbClr val="E48312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Guide :  MS. </a:t>
            </a:r>
            <a:r>
              <a:rPr lang="en-US" sz="2400" dirty="0" err="1">
                <a:solidFill>
                  <a:srgbClr val="E48312"/>
                </a:solidFill>
                <a:latin typeface="Trebuchet MS"/>
                <a:ea typeface="Trebuchet MS"/>
                <a:cs typeface="Trebuchet MS"/>
                <a:sym typeface="Trebuchet MS"/>
              </a:rPr>
              <a:t>Chandravva</a:t>
            </a:r>
            <a:r>
              <a:rPr lang="en-US" sz="2400" dirty="0">
                <a:solidFill>
                  <a:srgbClr val="E48312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2400" dirty="0" err="1">
                <a:solidFill>
                  <a:srgbClr val="E48312"/>
                </a:solidFill>
                <a:latin typeface="Trebuchet MS"/>
                <a:ea typeface="Trebuchet MS"/>
                <a:cs typeface="Trebuchet MS"/>
                <a:sym typeface="Trebuchet MS"/>
              </a:rPr>
              <a:t>Hebbi</a:t>
            </a:r>
            <a:r>
              <a:rPr lang="en-US" sz="2400" dirty="0">
                <a:solidFill>
                  <a:srgbClr val="E48312"/>
                </a:solidFill>
                <a:latin typeface="Trebuchet MS"/>
                <a:ea typeface="Trebuchet MS"/>
                <a:cs typeface="Trebuchet MS"/>
                <a:sym typeface="Trebuchet MS"/>
              </a:rPr>
              <a:t>                </a:t>
            </a:r>
            <a:endParaRPr sz="2400" dirty="0">
              <a:solidFill>
                <a:srgbClr val="E48312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buSzPts val="2400"/>
            </a:pPr>
            <a:r>
              <a:rPr lang="en-US" sz="2400" dirty="0">
                <a:solidFill>
                  <a:srgbClr val="E48312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Team  : Vishruth Rallapalli</a:t>
            </a:r>
          </a:p>
          <a:p>
            <a:pPr>
              <a:buSzPts val="2400"/>
            </a:pPr>
            <a:r>
              <a:rPr lang="en-US" sz="2400" dirty="0">
                <a:solidFill>
                  <a:srgbClr val="E48312"/>
                </a:solidFill>
                <a:latin typeface="Trebuchet MS"/>
                <a:ea typeface="Calibri"/>
                <a:cs typeface="Calibri"/>
                <a:sym typeface="Trebuchet MS"/>
              </a:rPr>
              <a:t>				    Yuvraj Rao</a:t>
            </a:r>
          </a:p>
          <a:p>
            <a:pPr>
              <a:buSzPts val="2400"/>
            </a:pPr>
            <a:r>
              <a:rPr lang="en-US" sz="2400" dirty="0">
                <a:solidFill>
                  <a:srgbClr val="E48312"/>
                </a:solidFill>
                <a:latin typeface="Trebuchet MS"/>
                <a:ea typeface="Calibri"/>
                <a:cs typeface="Calibri"/>
                <a:sym typeface="Trebuchet MS"/>
              </a:rPr>
              <a:t>				    Vivan Jeevan Naik</a:t>
            </a:r>
          </a:p>
          <a:p>
            <a:pPr>
              <a:buSzPts val="2400"/>
            </a:pPr>
            <a:r>
              <a:rPr lang="en-US" sz="2400" dirty="0">
                <a:solidFill>
                  <a:srgbClr val="E48312"/>
                </a:solidFill>
                <a:latin typeface="Trebuchet MS"/>
                <a:ea typeface="Calibri"/>
                <a:cs typeface="Calibri"/>
                <a:sym typeface="Trebuchet MS"/>
              </a:rPr>
              <a:t>				    Srujan Kumar J</a:t>
            </a:r>
            <a:endParaRPr sz="2000" dirty="0">
              <a:solidFill>
                <a:srgbClr val="E4831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SzPts val="2400"/>
            </a:pPr>
            <a:endParaRPr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>
              <a:buSzPts val="2400"/>
            </a:pPr>
            <a:endParaRPr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"/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3"/>
          <p:cNvSpPr txBox="1"/>
          <p:nvPr/>
        </p:nvSpPr>
        <p:spPr>
          <a:xfrm>
            <a:off x="329967" y="1676400"/>
            <a:ext cx="9804633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685791" marR="0" lvl="0" indent="-34290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Arial"/>
              </a:defRPr>
            </a:lvl1pPr>
            <a:lvl2pPr marR="0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>
                <a:sym typeface="Trebuchet MS"/>
              </a:rPr>
              <a:t>Problem Statement</a:t>
            </a:r>
            <a:endParaRPr dirty="0">
              <a:sym typeface="Trebuchet MS"/>
            </a:endParaRPr>
          </a:p>
          <a:p>
            <a:r>
              <a:rPr lang="en-US" dirty="0">
                <a:sym typeface="Trebuchet MS"/>
              </a:rPr>
              <a:t>Introduction</a:t>
            </a:r>
          </a:p>
          <a:p>
            <a:r>
              <a:rPr lang="en-US" dirty="0">
                <a:sym typeface="Trebuchet MS"/>
              </a:rPr>
              <a:t>Research Gaps and Novelty</a:t>
            </a:r>
          </a:p>
          <a:p>
            <a:r>
              <a:rPr lang="en-US" dirty="0">
                <a:sym typeface="Trebuchet MS"/>
              </a:rPr>
              <a:t>Objectives</a:t>
            </a:r>
            <a:endParaRPr dirty="0">
              <a:sym typeface="Trebuchet MS"/>
            </a:endParaRPr>
          </a:p>
          <a:p>
            <a:r>
              <a:rPr lang="en-US" dirty="0">
                <a:sym typeface="Trebuchet MS"/>
              </a:rPr>
              <a:t>Scope and Feasibility study</a:t>
            </a:r>
          </a:p>
          <a:p>
            <a:r>
              <a:rPr lang="en-US" dirty="0">
                <a:sym typeface="Trebuchet MS"/>
              </a:rPr>
              <a:t>Challenges</a:t>
            </a:r>
          </a:p>
          <a:p>
            <a:r>
              <a:rPr lang="en-US" dirty="0">
                <a:sym typeface="Trebuchet MS"/>
              </a:rPr>
              <a:t>Literature Survey</a:t>
            </a:r>
            <a:endParaRPr dirty="0"/>
          </a:p>
          <a:p>
            <a:r>
              <a:rPr lang="en-US" dirty="0">
                <a:sym typeface="Trebuchet MS"/>
              </a:rPr>
              <a:t>Applications/Use cases</a:t>
            </a:r>
          </a:p>
          <a:p>
            <a:r>
              <a:rPr lang="en-US" dirty="0">
                <a:sym typeface="Trebuchet MS"/>
              </a:rPr>
              <a:t>Future Enhancements</a:t>
            </a:r>
          </a:p>
          <a:p>
            <a:r>
              <a:rPr lang="en-US" dirty="0">
                <a:sym typeface="Trebuchet MS"/>
              </a:rPr>
              <a:t>Data Requirement</a:t>
            </a:r>
          </a:p>
          <a:p>
            <a:r>
              <a:rPr lang="en-US" dirty="0"/>
              <a:t>Project Timeline</a:t>
            </a:r>
            <a:endParaRPr dirty="0"/>
          </a:p>
          <a:p>
            <a:r>
              <a:rPr lang="en-US" dirty="0">
                <a:sym typeface="Trebuchet MS"/>
              </a:rPr>
              <a:t>References</a:t>
            </a:r>
          </a:p>
        </p:txBody>
      </p:sp>
      <p:sp>
        <p:nvSpPr>
          <p:cNvPr id="93" name="Google Shape;93;p3"/>
          <p:cNvSpPr txBox="1"/>
          <p:nvPr/>
        </p:nvSpPr>
        <p:spPr>
          <a:xfrm>
            <a:off x="4191000" y="1143002"/>
            <a:ext cx="64770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latin typeface="Trebuchet MS"/>
                <a:ea typeface="Trebuchet MS"/>
                <a:cs typeface="Trebuchet MS"/>
                <a:sym typeface="Trebuchet MS"/>
              </a:rPr>
              <a:t>Outline</a:t>
            </a:r>
            <a:endParaRPr dirty="0"/>
          </a:p>
        </p:txBody>
      </p:sp>
      <p:pic>
        <p:nvPicPr>
          <p:cNvPr id="94" name="Google Shape;94;p3"/>
          <p:cNvPicPr preferRelativeResize="0"/>
          <p:nvPr/>
        </p:nvPicPr>
        <p:blipFill rotWithShape="1">
          <a:blip r:embed="rId3">
            <a:alphaModFix/>
          </a:blip>
          <a:srcRect t="4970"/>
          <a:stretch/>
        </p:blipFill>
        <p:spPr>
          <a:xfrm>
            <a:off x="10580722" y="1"/>
            <a:ext cx="1281312" cy="1560352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3"/>
          <p:cNvSpPr txBox="1"/>
          <p:nvPr/>
        </p:nvSpPr>
        <p:spPr>
          <a:xfrm>
            <a:off x="329967" y="147428"/>
            <a:ext cx="38610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Detecting Depression using vocal cues</a:t>
            </a:r>
            <a:endParaRPr sz="1200" b="0" i="0" u="none" strike="noStrike" cap="none" dirty="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3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 err="1"/>
              <a:t>Vishruthrallapalli_yuvrajrao_vivanjeevannaik_srujankumarj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4"/>
          <p:cNvSpPr txBox="1"/>
          <p:nvPr/>
        </p:nvSpPr>
        <p:spPr>
          <a:xfrm>
            <a:off x="329967" y="2055821"/>
            <a:ext cx="10721491" cy="4562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791" lvl="0" indent="-342900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Depression is a growing global mental health concern.</a:t>
            </a:r>
          </a:p>
          <a:p>
            <a:pPr marL="685791" lvl="0" indent="-342900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Diagnosis primarily relies on self-reporting and clinical interviews.</a:t>
            </a:r>
          </a:p>
          <a:p>
            <a:pPr marL="685791" lvl="0" indent="-342900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Due to social stigma and denial, individuals often hide symptoms.</a:t>
            </a:r>
          </a:p>
          <a:p>
            <a:pPr marL="685791" lvl="0" indent="-342900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Need for objective, technology-driven detection systems that analyze behavior.</a:t>
            </a:r>
          </a:p>
          <a:p>
            <a:pPr marL="685791" lvl="0" indent="-342900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Voice-based detection provides a non-intrusive and natural way to assess emotional state.</a:t>
            </a:r>
            <a:endParaRPr sz="2400" b="0" i="0" u="none" strike="noStrike" cap="none" dirty="0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5" name="Google Shape;105;p4"/>
          <p:cNvSpPr txBox="1"/>
          <p:nvPr/>
        </p:nvSpPr>
        <p:spPr>
          <a:xfrm>
            <a:off x="4191000" y="1143002"/>
            <a:ext cx="64770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latin typeface="Trebuchet MS"/>
                <a:ea typeface="Trebuchet MS"/>
                <a:cs typeface="Trebuchet MS"/>
                <a:sym typeface="Trebuchet MS"/>
              </a:rPr>
              <a:t>Problem Statement</a:t>
            </a:r>
            <a:endParaRPr/>
          </a:p>
        </p:txBody>
      </p:sp>
      <p:pic>
        <p:nvPicPr>
          <p:cNvPr id="106" name="Google Shape;106;p4"/>
          <p:cNvPicPr preferRelativeResize="0"/>
          <p:nvPr/>
        </p:nvPicPr>
        <p:blipFill rotWithShape="1">
          <a:blip r:embed="rId3">
            <a:alphaModFix/>
          </a:blip>
          <a:srcRect t="4970"/>
          <a:stretch/>
        </p:blipFill>
        <p:spPr>
          <a:xfrm>
            <a:off x="10580722" y="1"/>
            <a:ext cx="1281312" cy="156035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95;p3">
            <a:extLst>
              <a:ext uri="{FF2B5EF4-FFF2-40B4-BE49-F238E27FC236}">
                <a16:creationId xmlns:a16="http://schemas.microsoft.com/office/drawing/2014/main" id="{021CA91E-97FA-3B10-38F3-FAFBFF7D3177}"/>
              </a:ext>
            </a:extLst>
          </p:cNvPr>
          <p:cNvSpPr txBox="1"/>
          <p:nvPr/>
        </p:nvSpPr>
        <p:spPr>
          <a:xfrm>
            <a:off x="329967" y="147428"/>
            <a:ext cx="38610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Detecting Depression using vocal cues</a:t>
            </a:r>
            <a:endParaRPr sz="1200" b="0" i="0" u="none" strike="noStrike" cap="none" dirty="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96;p3">
            <a:extLst>
              <a:ext uri="{FF2B5EF4-FFF2-40B4-BE49-F238E27FC236}">
                <a16:creationId xmlns:a16="http://schemas.microsoft.com/office/drawing/2014/main" id="{EF35F957-1AF6-C734-9203-6450218CFA18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 err="1"/>
              <a:t>Vishruthrallapalli_yuvrajrao_vivanjeevannaik_srujankumarj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03;p4">
            <a:extLst>
              <a:ext uri="{FF2B5EF4-FFF2-40B4-BE49-F238E27FC236}">
                <a16:creationId xmlns:a16="http://schemas.microsoft.com/office/drawing/2014/main" id="{AD13B508-2083-46A5-2EFB-8C66C36301E1}"/>
              </a:ext>
            </a:extLst>
          </p:cNvPr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105;p4">
            <a:extLst>
              <a:ext uri="{FF2B5EF4-FFF2-40B4-BE49-F238E27FC236}">
                <a16:creationId xmlns:a16="http://schemas.microsoft.com/office/drawing/2014/main" id="{2C181E3B-2FEB-7C6E-B8BA-EA9AC6E9CE3F}"/>
              </a:ext>
            </a:extLst>
          </p:cNvPr>
          <p:cNvSpPr txBox="1"/>
          <p:nvPr/>
        </p:nvSpPr>
        <p:spPr>
          <a:xfrm>
            <a:off x="4191000" y="1143002"/>
            <a:ext cx="64770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latin typeface="Trebuchet MS"/>
                <a:ea typeface="Trebuchet MS"/>
                <a:cs typeface="Trebuchet MS"/>
                <a:sym typeface="Trebuchet MS"/>
              </a:rPr>
              <a:t>Introduction</a:t>
            </a:r>
            <a:endParaRPr dirty="0"/>
          </a:p>
        </p:txBody>
      </p:sp>
      <p:pic>
        <p:nvPicPr>
          <p:cNvPr id="7" name="Google Shape;106;p4">
            <a:extLst>
              <a:ext uri="{FF2B5EF4-FFF2-40B4-BE49-F238E27FC236}">
                <a16:creationId xmlns:a16="http://schemas.microsoft.com/office/drawing/2014/main" id="{A403B95A-2FE1-E2BB-DEF4-B907F86712E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970"/>
          <a:stretch/>
        </p:blipFill>
        <p:spPr>
          <a:xfrm>
            <a:off x="10580722" y="1"/>
            <a:ext cx="1281312" cy="1560352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3B77E09-ADD9-32D6-CDE9-6CCDE402B8A5}"/>
              </a:ext>
            </a:extLst>
          </p:cNvPr>
          <p:cNvSpPr txBox="1"/>
          <p:nvPr/>
        </p:nvSpPr>
        <p:spPr>
          <a:xfrm>
            <a:off x="-226142" y="1690696"/>
            <a:ext cx="12088175" cy="4475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091" lvl="1" algn="just">
              <a:spcBef>
                <a:spcPts val="480"/>
              </a:spcBef>
              <a:buClr>
                <a:srgbClr val="000000"/>
              </a:buClr>
              <a:buSzPts val="2400"/>
            </a:pPr>
            <a:r>
              <a:rPr lang="en-US" sz="2400" dirty="0">
                <a:latin typeface="Trebuchet MS"/>
                <a:ea typeface="Trebuchet MS"/>
                <a:cs typeface="Trebuchet MS"/>
                <a:sym typeface="Trebuchet MS"/>
              </a:rPr>
              <a:t>Understanding Depression &amp; the Need for Automation:</a:t>
            </a:r>
          </a:p>
          <a:p>
            <a:pPr marL="1142991" lvl="1" indent="-342900" algn="just">
              <a:spcBef>
                <a:spcPts val="480"/>
              </a:spcBef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Depression is a global mental health concern, affecting over 280 million people (WHO, 2023).</a:t>
            </a:r>
          </a:p>
          <a:p>
            <a:pPr marL="1142991" lvl="1" indent="-342900" algn="just">
              <a:spcBef>
                <a:spcPts val="480"/>
              </a:spcBef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Traditional diagnosis relies on self-report questionnaires (e.g., BDI-II, PHQ-9) and clinical interviews.</a:t>
            </a:r>
          </a:p>
          <a:p>
            <a:pPr marL="1142991" lvl="1" indent="-342900" algn="just">
              <a:spcBef>
                <a:spcPts val="480"/>
              </a:spcBef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These methods are subjective, time-consuming, and affected by social stigma – people may hide or underreport symptoms.</a:t>
            </a:r>
          </a:p>
          <a:p>
            <a:pPr marL="1142991" lvl="1" indent="-342900" algn="just">
              <a:spcBef>
                <a:spcPts val="480"/>
              </a:spcBef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There is a growing need for objective, technology-driven tools for early detection.</a:t>
            </a:r>
          </a:p>
          <a:p>
            <a:pPr marL="1142991" lvl="1" indent="-342900" algn="just">
              <a:spcBef>
                <a:spcPts val="480"/>
              </a:spcBef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Speech and voice contain rich emotional and cognitive cues — offering a non-invasive and continuous monitoring method.</a:t>
            </a:r>
            <a:endParaRPr lang="en-US" sz="2400" b="0" i="0" u="none" strike="noStrike" cap="none" dirty="0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" name="Google Shape;95;p3">
            <a:extLst>
              <a:ext uri="{FF2B5EF4-FFF2-40B4-BE49-F238E27FC236}">
                <a16:creationId xmlns:a16="http://schemas.microsoft.com/office/drawing/2014/main" id="{256026C1-5227-1896-48BA-74D04FAB5DB2}"/>
              </a:ext>
            </a:extLst>
          </p:cNvPr>
          <p:cNvSpPr txBox="1"/>
          <p:nvPr/>
        </p:nvSpPr>
        <p:spPr>
          <a:xfrm>
            <a:off x="329967" y="147428"/>
            <a:ext cx="38610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Detecting Depression using vocal cues</a:t>
            </a:r>
            <a:endParaRPr sz="1200" b="0" i="0" u="none" strike="noStrike" cap="none" dirty="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96;p3">
            <a:extLst>
              <a:ext uri="{FF2B5EF4-FFF2-40B4-BE49-F238E27FC236}">
                <a16:creationId xmlns:a16="http://schemas.microsoft.com/office/drawing/2014/main" id="{45626ADA-32C7-38A1-816E-3A76FA9282E0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 err="1"/>
              <a:t>Vishruthrallapalli_yuvrajrao_vivanjeevannaik_srujankumarj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83767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56F7F-BDB1-4B55-5888-C5675B17E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03;p4">
            <a:extLst>
              <a:ext uri="{FF2B5EF4-FFF2-40B4-BE49-F238E27FC236}">
                <a16:creationId xmlns:a16="http://schemas.microsoft.com/office/drawing/2014/main" id="{61D70C36-D049-968A-999F-7971A9B6E923}"/>
              </a:ext>
            </a:extLst>
          </p:cNvPr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105;p4">
            <a:extLst>
              <a:ext uri="{FF2B5EF4-FFF2-40B4-BE49-F238E27FC236}">
                <a16:creationId xmlns:a16="http://schemas.microsoft.com/office/drawing/2014/main" id="{5C0ABDAA-EED6-948C-146F-9F522C3BB6C3}"/>
              </a:ext>
            </a:extLst>
          </p:cNvPr>
          <p:cNvSpPr txBox="1"/>
          <p:nvPr/>
        </p:nvSpPr>
        <p:spPr>
          <a:xfrm>
            <a:off x="4191000" y="1143002"/>
            <a:ext cx="64770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latin typeface="Trebuchet MS"/>
                <a:ea typeface="Trebuchet MS"/>
                <a:cs typeface="Trebuchet MS"/>
                <a:sym typeface="Trebuchet MS"/>
              </a:rPr>
              <a:t>Introduction</a:t>
            </a:r>
            <a:endParaRPr dirty="0"/>
          </a:p>
        </p:txBody>
      </p:sp>
      <p:pic>
        <p:nvPicPr>
          <p:cNvPr id="7" name="Google Shape;106;p4">
            <a:extLst>
              <a:ext uri="{FF2B5EF4-FFF2-40B4-BE49-F238E27FC236}">
                <a16:creationId xmlns:a16="http://schemas.microsoft.com/office/drawing/2014/main" id="{6F8420B5-40A7-15DF-7CC7-7C5200CD1B9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970"/>
          <a:stretch/>
        </p:blipFill>
        <p:spPr>
          <a:xfrm>
            <a:off x="10580722" y="1"/>
            <a:ext cx="1281312" cy="1560352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86532EB-4462-576D-34C6-94A1659943C1}"/>
              </a:ext>
            </a:extLst>
          </p:cNvPr>
          <p:cNvSpPr txBox="1"/>
          <p:nvPr/>
        </p:nvSpPr>
        <p:spPr>
          <a:xfrm>
            <a:off x="0" y="1690696"/>
            <a:ext cx="11862034" cy="4234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091" lvl="1" algn="just">
              <a:spcBef>
                <a:spcPts val="480"/>
              </a:spcBef>
              <a:buClr>
                <a:srgbClr val="000000"/>
              </a:buClr>
              <a:buSzPts val="2400"/>
            </a:pPr>
            <a:r>
              <a:rPr lang="en-US" sz="2400" dirty="0">
                <a:latin typeface="Trebuchet MS"/>
                <a:ea typeface="Trebuchet MS"/>
                <a:cs typeface="Trebuchet MS"/>
                <a:sym typeface="Trebuchet MS"/>
              </a:rPr>
              <a:t>How Vocal Cues Reveal Depression:</a:t>
            </a:r>
          </a:p>
          <a:p>
            <a:pPr marL="800091" lvl="1" algn="just">
              <a:spcBef>
                <a:spcPts val="480"/>
              </a:spcBef>
              <a:buClr>
                <a:srgbClr val="000000"/>
              </a:buClr>
              <a:buSzPts val="2400"/>
            </a:pPr>
            <a:endParaRPr lang="en-US" sz="2400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1142991" lvl="1" indent="-342900" algn="just">
              <a:spcBef>
                <a:spcPts val="480"/>
              </a:spcBef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Depression affects speech prosody, pitch, energy, and rhythm (prosodic features).</a:t>
            </a:r>
          </a:p>
          <a:p>
            <a:pPr marL="1142991" lvl="1" indent="-342900" algn="just">
              <a:spcBef>
                <a:spcPts val="480"/>
              </a:spcBef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Common indicators: Reduced pitch variability → monotonous tone.</a:t>
            </a:r>
          </a:p>
          <a:p>
            <a:pPr marL="1142991" lvl="1" indent="-342900" algn="just">
              <a:spcBef>
                <a:spcPts val="480"/>
              </a:spcBef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Lower speech rate → slowed cognitive processing.</a:t>
            </a:r>
          </a:p>
          <a:p>
            <a:pPr marL="1142991" lvl="1" indent="-342900" algn="just">
              <a:spcBef>
                <a:spcPts val="480"/>
              </a:spcBef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Longer pauses / silence ratio → hesitation or fatigue.</a:t>
            </a:r>
          </a:p>
          <a:p>
            <a:pPr marL="1142991" lvl="1" indent="-342900" algn="just">
              <a:spcBef>
                <a:spcPts val="480"/>
              </a:spcBef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Low energy &amp; intensity → emotional flatness.</a:t>
            </a:r>
          </a:p>
          <a:p>
            <a:pPr marL="1142991" lvl="1" indent="-342900" algn="just">
              <a:spcBef>
                <a:spcPts val="480"/>
              </a:spcBef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Models analyze acoustic features (e.g., MFCCs, F0, jitter, shimmer) and linguistic content to detect signs.</a:t>
            </a:r>
          </a:p>
        </p:txBody>
      </p:sp>
      <p:sp>
        <p:nvSpPr>
          <p:cNvPr id="2" name="Google Shape;95;p3">
            <a:extLst>
              <a:ext uri="{FF2B5EF4-FFF2-40B4-BE49-F238E27FC236}">
                <a16:creationId xmlns:a16="http://schemas.microsoft.com/office/drawing/2014/main" id="{8B0C9EFA-6777-6C99-1507-8EC48FD2F5E6}"/>
              </a:ext>
            </a:extLst>
          </p:cNvPr>
          <p:cNvSpPr txBox="1"/>
          <p:nvPr/>
        </p:nvSpPr>
        <p:spPr>
          <a:xfrm>
            <a:off x="329967" y="147428"/>
            <a:ext cx="38610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Detecting Depression using vocal cues</a:t>
            </a:r>
            <a:endParaRPr sz="1200" b="0" i="0" u="none" strike="noStrike" cap="none" dirty="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96;p3">
            <a:extLst>
              <a:ext uri="{FF2B5EF4-FFF2-40B4-BE49-F238E27FC236}">
                <a16:creationId xmlns:a16="http://schemas.microsoft.com/office/drawing/2014/main" id="{58404F91-D76A-A574-9F64-DAD01AA2B13E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 err="1"/>
              <a:t>Vishruthrallapalli_yuvrajrao_vivanjeevannaik_srujankumarj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2605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528B8-2A28-08D7-A134-4DD3D1B7B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03;p4">
            <a:extLst>
              <a:ext uri="{FF2B5EF4-FFF2-40B4-BE49-F238E27FC236}">
                <a16:creationId xmlns:a16="http://schemas.microsoft.com/office/drawing/2014/main" id="{C35DC7D7-7316-A3FB-133A-96D7133CFB77}"/>
              </a:ext>
            </a:extLst>
          </p:cNvPr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105;p4">
            <a:extLst>
              <a:ext uri="{FF2B5EF4-FFF2-40B4-BE49-F238E27FC236}">
                <a16:creationId xmlns:a16="http://schemas.microsoft.com/office/drawing/2014/main" id="{1720A5E3-B071-A300-1246-BBD48F7FBB8E}"/>
              </a:ext>
            </a:extLst>
          </p:cNvPr>
          <p:cNvSpPr txBox="1"/>
          <p:nvPr/>
        </p:nvSpPr>
        <p:spPr>
          <a:xfrm>
            <a:off x="4191000" y="1143002"/>
            <a:ext cx="64770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latin typeface="Trebuchet MS"/>
                <a:ea typeface="Trebuchet MS"/>
                <a:cs typeface="Trebuchet MS"/>
                <a:sym typeface="Trebuchet MS"/>
              </a:rPr>
              <a:t>Introduction</a:t>
            </a:r>
            <a:endParaRPr lang="en-US" dirty="0"/>
          </a:p>
        </p:txBody>
      </p:sp>
      <p:pic>
        <p:nvPicPr>
          <p:cNvPr id="7" name="Google Shape;106;p4">
            <a:extLst>
              <a:ext uri="{FF2B5EF4-FFF2-40B4-BE49-F238E27FC236}">
                <a16:creationId xmlns:a16="http://schemas.microsoft.com/office/drawing/2014/main" id="{EC3D0CE6-10A8-E030-42EA-E4EB8242CBE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4970"/>
          <a:stretch/>
        </p:blipFill>
        <p:spPr>
          <a:xfrm>
            <a:off x="10580722" y="1"/>
            <a:ext cx="1281312" cy="1560352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2CC9F56-CC86-EA1E-AE83-721565BE91F1}"/>
              </a:ext>
            </a:extLst>
          </p:cNvPr>
          <p:cNvSpPr txBox="1"/>
          <p:nvPr/>
        </p:nvSpPr>
        <p:spPr>
          <a:xfrm>
            <a:off x="329966" y="1690696"/>
            <a:ext cx="11532067" cy="2500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091" lvl="1" algn="just">
              <a:spcBef>
                <a:spcPts val="480"/>
              </a:spcBef>
              <a:buClr>
                <a:srgbClr val="000000"/>
              </a:buClr>
              <a:buSzPts val="2400"/>
            </a:pPr>
            <a:r>
              <a:rPr lang="en-US" sz="2400" dirty="0">
                <a:latin typeface="Trebuchet MS"/>
                <a:ea typeface="Trebuchet MS"/>
                <a:cs typeface="Trebuchet MS"/>
                <a:sym typeface="Trebuchet MS"/>
              </a:rPr>
              <a:t>How Vocal Cues Reveal Depression:</a:t>
            </a:r>
          </a:p>
          <a:p>
            <a:pPr marL="800091" lvl="1" algn="just">
              <a:spcBef>
                <a:spcPts val="480"/>
              </a:spcBef>
              <a:buClr>
                <a:srgbClr val="000000"/>
              </a:buClr>
              <a:buSzPts val="2400"/>
            </a:pPr>
            <a:endParaRPr lang="en-US" sz="2400" dirty="0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1142991" lvl="1" indent="-342900" algn="just">
              <a:spcBef>
                <a:spcPts val="480"/>
              </a:spcBef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ML systems learn patterns distinguishing sadness, fatigue, and true depression using multimodal data (vocal + visual cues).</a:t>
            </a:r>
          </a:p>
          <a:p>
            <a:pPr marL="1142991" lvl="1" indent="-342900" algn="just">
              <a:spcBef>
                <a:spcPts val="480"/>
              </a:spcBef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Challenge: differentiating between temporary sadness and clinical depression — requires sustained patterns over time</a:t>
            </a:r>
          </a:p>
        </p:txBody>
      </p:sp>
      <p:sp>
        <p:nvSpPr>
          <p:cNvPr id="2" name="Google Shape;95;p3">
            <a:extLst>
              <a:ext uri="{FF2B5EF4-FFF2-40B4-BE49-F238E27FC236}">
                <a16:creationId xmlns:a16="http://schemas.microsoft.com/office/drawing/2014/main" id="{8741FBA0-2867-BE62-C762-04C4F382D3D1}"/>
              </a:ext>
            </a:extLst>
          </p:cNvPr>
          <p:cNvSpPr txBox="1"/>
          <p:nvPr/>
        </p:nvSpPr>
        <p:spPr>
          <a:xfrm>
            <a:off x="329967" y="147428"/>
            <a:ext cx="38610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Detecting Depression using vocal cues</a:t>
            </a:r>
            <a:endParaRPr sz="1200" b="0" i="0" u="none" strike="noStrike" cap="none" dirty="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96;p3">
            <a:extLst>
              <a:ext uri="{FF2B5EF4-FFF2-40B4-BE49-F238E27FC236}">
                <a16:creationId xmlns:a16="http://schemas.microsoft.com/office/drawing/2014/main" id="{051AA521-A373-9D0C-B93D-F8901038F613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 err="1"/>
              <a:t>Vishruthrallapalli_yuvrajrao_vivanjeevannaik_srujankumarj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03364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/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5"/>
          <p:cNvSpPr txBox="1"/>
          <p:nvPr/>
        </p:nvSpPr>
        <p:spPr>
          <a:xfrm>
            <a:off x="329967" y="1729224"/>
            <a:ext cx="11163943" cy="4671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891" lvl="0" algn="just">
              <a:buClr>
                <a:srgbClr val="000000"/>
              </a:buClr>
              <a:buSzPts val="2400"/>
            </a:pPr>
            <a:r>
              <a:rPr lang="en-US" sz="2400" dirty="0">
                <a:latin typeface="Trebuchet MS"/>
                <a:ea typeface="Trebuchet MS"/>
                <a:cs typeface="Trebuchet MS"/>
                <a:sym typeface="Trebuchet MS"/>
              </a:rPr>
              <a:t>Research Gaps:</a:t>
            </a:r>
          </a:p>
          <a:p>
            <a:pPr marL="342891" lvl="0" algn="just">
              <a:buClr>
                <a:srgbClr val="000000"/>
              </a:buClr>
              <a:buSzPts val="2400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</a:p>
          <a:p>
            <a:pPr marL="685791" lvl="0" indent="-342900" algn="just"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Existing models mainly monolingual (English datasets like AVEC, DAIC-WOZ).</a:t>
            </a:r>
          </a:p>
          <a:p>
            <a:pPr marL="685791" lvl="0" indent="-342900" algn="just"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Lack of multilingual and regional speech datasets (e.g., Indian languages).</a:t>
            </a:r>
          </a:p>
          <a:p>
            <a:pPr marL="685791" lvl="0" indent="-342900" algn="just"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Limited real-world conversational data — mostly lab recordings.</a:t>
            </a:r>
          </a:p>
          <a:p>
            <a:pPr marL="685791" lvl="0" indent="-342900" algn="just"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Few systems incorporate both vocal and visual modalities together.</a:t>
            </a:r>
          </a:p>
          <a:p>
            <a:pPr marL="685791" lvl="0" indent="-342900" algn="just"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Emotional overlaps (sadness vs depression) often misclassified.</a:t>
            </a:r>
            <a:endParaRPr sz="2800" b="0" i="0" u="none" strike="noStrike" cap="none" dirty="0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7" name="Google Shape;117;p5"/>
          <p:cNvSpPr txBox="1"/>
          <p:nvPr/>
        </p:nvSpPr>
        <p:spPr>
          <a:xfrm>
            <a:off x="2895600" y="990600"/>
            <a:ext cx="7848600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indent="-342891" algn="r"/>
            <a:r>
              <a:rPr lang="en-US" sz="2400" dirty="0">
                <a:latin typeface="Trebuchet MS"/>
                <a:ea typeface="Trebuchet MS"/>
                <a:cs typeface="Trebuchet MS"/>
                <a:sym typeface="Trebuchet MS"/>
              </a:rPr>
              <a:t>R</a:t>
            </a:r>
            <a:r>
              <a:rPr lang="en-US" sz="2400" b="0" i="0" u="none" strike="noStrike" cap="none" dirty="0">
                <a:latin typeface="Trebuchet MS"/>
                <a:ea typeface="Trebuchet MS"/>
                <a:cs typeface="Trebuchet MS"/>
                <a:sym typeface="Trebuchet MS"/>
              </a:rPr>
              <a:t>esearch Gaps and Novelty</a:t>
            </a:r>
            <a:endParaRPr lang="en-US" dirty="0">
              <a:sym typeface="Trebuchet MS"/>
            </a:endParaRPr>
          </a:p>
          <a:p>
            <a:pPr marL="342891" marR="0" lvl="0" indent="-34289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18" name="Google Shape;118;p5"/>
          <p:cNvPicPr preferRelativeResize="0"/>
          <p:nvPr/>
        </p:nvPicPr>
        <p:blipFill rotWithShape="1">
          <a:blip r:embed="rId3">
            <a:alphaModFix/>
          </a:blip>
          <a:srcRect t="4970"/>
          <a:stretch/>
        </p:blipFill>
        <p:spPr>
          <a:xfrm>
            <a:off x="10901680" y="1"/>
            <a:ext cx="960354" cy="145226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95;p3">
            <a:extLst>
              <a:ext uri="{FF2B5EF4-FFF2-40B4-BE49-F238E27FC236}">
                <a16:creationId xmlns:a16="http://schemas.microsoft.com/office/drawing/2014/main" id="{F42E0E53-1DBA-955A-4E40-2B8CE2D71CB5}"/>
              </a:ext>
            </a:extLst>
          </p:cNvPr>
          <p:cNvSpPr txBox="1"/>
          <p:nvPr/>
        </p:nvSpPr>
        <p:spPr>
          <a:xfrm>
            <a:off x="329967" y="147428"/>
            <a:ext cx="38610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Detecting Depression using vocal cues</a:t>
            </a:r>
            <a:endParaRPr sz="1200" b="0" i="0" u="none" strike="noStrike" cap="none" dirty="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96;p3">
            <a:extLst>
              <a:ext uri="{FF2B5EF4-FFF2-40B4-BE49-F238E27FC236}">
                <a16:creationId xmlns:a16="http://schemas.microsoft.com/office/drawing/2014/main" id="{EA225D7F-6654-BB6B-63DD-D12DBBF21E21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 err="1"/>
              <a:t>Vishruthrallapalli_yuvrajrao_vivanjeevannaik_srujankumarj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6769B0B1-F33D-5283-740D-BEDA5D1CA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>
            <a:extLst>
              <a:ext uri="{FF2B5EF4-FFF2-40B4-BE49-F238E27FC236}">
                <a16:creationId xmlns:a16="http://schemas.microsoft.com/office/drawing/2014/main" id="{FD3CBC50-A0A4-5F7D-FDD0-EA13F83249EA}"/>
              </a:ext>
            </a:extLst>
          </p:cNvPr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5">
            <a:extLst>
              <a:ext uri="{FF2B5EF4-FFF2-40B4-BE49-F238E27FC236}">
                <a16:creationId xmlns:a16="http://schemas.microsoft.com/office/drawing/2014/main" id="{1C80BAB7-8452-BF2F-3933-7E6529629682}"/>
              </a:ext>
            </a:extLst>
          </p:cNvPr>
          <p:cNvSpPr txBox="1"/>
          <p:nvPr/>
        </p:nvSpPr>
        <p:spPr>
          <a:xfrm>
            <a:off x="329967" y="1799304"/>
            <a:ext cx="11532067" cy="4601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891" lvl="0" algn="just">
              <a:buClr>
                <a:srgbClr val="000000"/>
              </a:buClr>
              <a:buSzPts val="2400"/>
            </a:pPr>
            <a:r>
              <a:rPr lang="en-US" sz="2400" dirty="0">
                <a:latin typeface="Trebuchet MS"/>
                <a:ea typeface="Trebuchet MS"/>
                <a:cs typeface="Trebuchet MS"/>
                <a:sym typeface="Trebuchet MS"/>
              </a:rPr>
              <a:t>Novelty:</a:t>
            </a:r>
          </a:p>
          <a:p>
            <a:pPr marL="342891" lvl="0" algn="just">
              <a:buClr>
                <a:srgbClr val="000000"/>
              </a:buClr>
              <a:buSzPts val="2400"/>
            </a:pPr>
            <a:endParaRPr lang="en-US" sz="2400" dirty="0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685791" lvl="0" indent="-342900" algn="just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Multilingual Depression Detection: Expands beyond English to include regional languages for wider applicability.</a:t>
            </a:r>
          </a:p>
          <a:p>
            <a:pPr marL="685791" lvl="0" indent="-342900" algn="just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Bias-Reduced Dataset: Focuses on collecting balanced, unbiased local data across age, gender, and accent.</a:t>
            </a:r>
          </a:p>
          <a:p>
            <a:pPr marL="685791" lvl="0" indent="-342900" algn="just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Context-Aware Vocal Analysis: Differentiates between temporary sadness and sustained depressive speech patterns.</a:t>
            </a:r>
          </a:p>
          <a:p>
            <a:pPr marL="685791" lvl="0" indent="-342900" algn="just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Explainable ML Model: Provides interpretable results highlighting key vocal cues linked to depression.</a:t>
            </a:r>
          </a:p>
          <a:p>
            <a:pPr marL="342891" lvl="0" algn="just">
              <a:buClr>
                <a:srgbClr val="000000"/>
              </a:buClr>
              <a:buSzPts val="2400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</a:p>
          <a:p>
            <a:pPr marL="685791" lvl="0" indent="-342900" algn="just">
              <a:buClr>
                <a:srgbClr val="000000"/>
              </a:buClr>
              <a:buSzPts val="2400"/>
              <a:buFont typeface="Arial"/>
              <a:buChar char="•"/>
            </a:pPr>
            <a:endParaRPr sz="2800" b="0" i="0" u="none" strike="noStrike" cap="none" dirty="0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7" name="Google Shape;117;p5">
            <a:extLst>
              <a:ext uri="{FF2B5EF4-FFF2-40B4-BE49-F238E27FC236}">
                <a16:creationId xmlns:a16="http://schemas.microsoft.com/office/drawing/2014/main" id="{29B6C5F6-77C2-F85E-CF66-B79A6A77D7D8}"/>
              </a:ext>
            </a:extLst>
          </p:cNvPr>
          <p:cNvSpPr txBox="1"/>
          <p:nvPr/>
        </p:nvSpPr>
        <p:spPr>
          <a:xfrm>
            <a:off x="2895600" y="990600"/>
            <a:ext cx="7848600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indent="-342891" algn="r"/>
            <a:r>
              <a:rPr lang="en-US" sz="2400" dirty="0">
                <a:latin typeface="Trebuchet MS"/>
                <a:ea typeface="Trebuchet MS"/>
                <a:cs typeface="Trebuchet MS"/>
                <a:sym typeface="Trebuchet MS"/>
              </a:rPr>
              <a:t>R</a:t>
            </a:r>
            <a:r>
              <a:rPr lang="en-US" sz="2400" b="0" i="0" u="none" strike="noStrike" cap="none" dirty="0">
                <a:latin typeface="Trebuchet MS"/>
                <a:ea typeface="Trebuchet MS"/>
                <a:cs typeface="Trebuchet MS"/>
                <a:sym typeface="Trebuchet MS"/>
              </a:rPr>
              <a:t>esearch Gaps and Novelty</a:t>
            </a:r>
            <a:endParaRPr lang="en-US" dirty="0">
              <a:sym typeface="Trebuchet MS"/>
            </a:endParaRPr>
          </a:p>
          <a:p>
            <a:pPr marL="342891" marR="0" lvl="0" indent="-34289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18" name="Google Shape;118;p5">
            <a:extLst>
              <a:ext uri="{FF2B5EF4-FFF2-40B4-BE49-F238E27FC236}">
                <a16:creationId xmlns:a16="http://schemas.microsoft.com/office/drawing/2014/main" id="{2DDD94D1-B029-DBE8-55FC-A88BB92D73F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4970"/>
          <a:stretch/>
        </p:blipFill>
        <p:spPr>
          <a:xfrm>
            <a:off x="10901680" y="1"/>
            <a:ext cx="960354" cy="145226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95;p3">
            <a:extLst>
              <a:ext uri="{FF2B5EF4-FFF2-40B4-BE49-F238E27FC236}">
                <a16:creationId xmlns:a16="http://schemas.microsoft.com/office/drawing/2014/main" id="{32079989-9C51-4D04-7F33-36F49D6EAA57}"/>
              </a:ext>
            </a:extLst>
          </p:cNvPr>
          <p:cNvSpPr txBox="1"/>
          <p:nvPr/>
        </p:nvSpPr>
        <p:spPr>
          <a:xfrm>
            <a:off x="329967" y="147428"/>
            <a:ext cx="38610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Detecting Depression using vocal cues</a:t>
            </a:r>
            <a:endParaRPr sz="1200" b="0" i="0" u="none" strike="noStrike" cap="none" dirty="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96;p3">
            <a:extLst>
              <a:ext uri="{FF2B5EF4-FFF2-40B4-BE49-F238E27FC236}">
                <a16:creationId xmlns:a16="http://schemas.microsoft.com/office/drawing/2014/main" id="{8928FFD2-4018-048A-3764-3BD041749264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 err="1"/>
              <a:t>Vishruthrallapalli_yuvrajrao_vivanjeevannaik_srujankumarj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60347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39B99A7A-8F05-F13E-9AD9-E4C32C8BA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>
            <a:extLst>
              <a:ext uri="{FF2B5EF4-FFF2-40B4-BE49-F238E27FC236}">
                <a16:creationId xmlns:a16="http://schemas.microsoft.com/office/drawing/2014/main" id="{0645E7DC-ABD4-E908-F161-B5891E307782}"/>
              </a:ext>
            </a:extLst>
          </p:cNvPr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5">
            <a:extLst>
              <a:ext uri="{FF2B5EF4-FFF2-40B4-BE49-F238E27FC236}">
                <a16:creationId xmlns:a16="http://schemas.microsoft.com/office/drawing/2014/main" id="{2EC781CE-0CCC-E250-31C4-AC254CBFE5FF}"/>
              </a:ext>
            </a:extLst>
          </p:cNvPr>
          <p:cNvSpPr txBox="1"/>
          <p:nvPr/>
        </p:nvSpPr>
        <p:spPr>
          <a:xfrm>
            <a:off x="329967" y="1930272"/>
            <a:ext cx="10571713" cy="4470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791" lvl="0" indent="-342900" algn="just"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Build an ML model that detects depression using vocal prosody features.</a:t>
            </a:r>
          </a:p>
          <a:p>
            <a:pPr marL="685791" lvl="0" indent="-342900" algn="just"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Extend to multilingual datasets (e.g., English–Kannada/other Indian languages).</a:t>
            </a:r>
          </a:p>
          <a:p>
            <a:pPr marL="685791" lvl="0" indent="-342900" algn="just"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Integrate facial (AAM) features for multimodal prediction.</a:t>
            </a:r>
          </a:p>
          <a:p>
            <a:pPr marL="685791" lvl="0" indent="-342900" algn="just"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Compare mono-modal vs multimodal accuracy.</a:t>
            </a:r>
          </a:p>
          <a:p>
            <a:pPr marL="685791" lvl="0" indent="-342900" algn="just"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Develop an early-screening tool for clinical and educational environments.</a:t>
            </a:r>
            <a:endParaRPr sz="2800" b="0" i="0" u="none" strike="noStrike" cap="none" dirty="0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7" name="Google Shape;117;p5">
            <a:extLst>
              <a:ext uri="{FF2B5EF4-FFF2-40B4-BE49-F238E27FC236}">
                <a16:creationId xmlns:a16="http://schemas.microsoft.com/office/drawing/2014/main" id="{65744718-03EB-1E8F-7E8C-3C55C1C1E2CC}"/>
              </a:ext>
            </a:extLst>
          </p:cNvPr>
          <p:cNvSpPr txBox="1"/>
          <p:nvPr/>
        </p:nvSpPr>
        <p:spPr>
          <a:xfrm>
            <a:off x="2895600" y="990600"/>
            <a:ext cx="78486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latin typeface="Trebuchet MS"/>
                <a:sym typeface="Trebuchet MS"/>
              </a:rPr>
              <a:t>Objectives</a:t>
            </a:r>
            <a:endParaRPr dirty="0"/>
          </a:p>
        </p:txBody>
      </p:sp>
      <p:pic>
        <p:nvPicPr>
          <p:cNvPr id="118" name="Google Shape;118;p5">
            <a:extLst>
              <a:ext uri="{FF2B5EF4-FFF2-40B4-BE49-F238E27FC236}">
                <a16:creationId xmlns:a16="http://schemas.microsoft.com/office/drawing/2014/main" id="{59FF088C-3877-0131-6782-F5373770BFB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4970"/>
          <a:stretch/>
        </p:blipFill>
        <p:spPr>
          <a:xfrm>
            <a:off x="10901680" y="1"/>
            <a:ext cx="960354" cy="145226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95;p3">
            <a:extLst>
              <a:ext uri="{FF2B5EF4-FFF2-40B4-BE49-F238E27FC236}">
                <a16:creationId xmlns:a16="http://schemas.microsoft.com/office/drawing/2014/main" id="{B3A47D33-3DE0-1CF3-64C2-6642C9CFA641}"/>
              </a:ext>
            </a:extLst>
          </p:cNvPr>
          <p:cNvSpPr txBox="1"/>
          <p:nvPr/>
        </p:nvSpPr>
        <p:spPr>
          <a:xfrm>
            <a:off x="329967" y="147428"/>
            <a:ext cx="38610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Detecting Depression using vocal cues</a:t>
            </a:r>
            <a:endParaRPr sz="1200" b="0" i="0" u="none" strike="noStrike" cap="none" dirty="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96;p3">
            <a:extLst>
              <a:ext uri="{FF2B5EF4-FFF2-40B4-BE49-F238E27FC236}">
                <a16:creationId xmlns:a16="http://schemas.microsoft.com/office/drawing/2014/main" id="{8D09E0D4-8B06-F783-D354-5A8EFFAC548F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 err="1"/>
              <a:t>Vishruthrallapalli_yuvrajrao_vivanjeevannaik_srujankumarj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823899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4D5DE895-2E3E-EC1D-F041-CA1C5434C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>
            <a:extLst>
              <a:ext uri="{FF2B5EF4-FFF2-40B4-BE49-F238E27FC236}">
                <a16:creationId xmlns:a16="http://schemas.microsoft.com/office/drawing/2014/main" id="{3C16CA00-0915-1F87-10AE-5564023B7496}"/>
              </a:ext>
            </a:extLst>
          </p:cNvPr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5">
            <a:extLst>
              <a:ext uri="{FF2B5EF4-FFF2-40B4-BE49-F238E27FC236}">
                <a16:creationId xmlns:a16="http://schemas.microsoft.com/office/drawing/2014/main" id="{FE88FD37-047B-08AA-A703-09FF0B04ED78}"/>
              </a:ext>
            </a:extLst>
          </p:cNvPr>
          <p:cNvSpPr txBox="1"/>
          <p:nvPr/>
        </p:nvSpPr>
        <p:spPr>
          <a:xfrm>
            <a:off x="329967" y="1617668"/>
            <a:ext cx="11321259" cy="4783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891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r>
              <a:rPr lang="en-US" sz="2400" b="0" i="0" u="none" strike="noStrike" cap="none" dirty="0">
                <a:latin typeface="Trebuchet MS"/>
                <a:ea typeface="Trebuchet MS"/>
                <a:cs typeface="Trebuchet MS"/>
                <a:sym typeface="Trebuchet MS"/>
              </a:rPr>
              <a:t>Scope:</a:t>
            </a:r>
          </a:p>
          <a:p>
            <a:pPr marL="342891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endParaRPr lang="en-US" sz="2400" dirty="0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800091" lvl="0" indent="-457200" algn="just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Extend analysis to multilingual speech for broader cultural and linguistic coverage.</a:t>
            </a:r>
          </a:p>
          <a:p>
            <a:pPr marL="800091" lvl="0" indent="-457200" algn="just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Incorporate visual AAM (Active Appearance Model) features in the future for multimodal predictions.</a:t>
            </a:r>
          </a:p>
          <a:p>
            <a:pPr marL="800091" lvl="0" indent="-457200" algn="just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Enable non-invasive, continuous mental health monitoring using simple audio recordings.</a:t>
            </a:r>
          </a:p>
          <a:p>
            <a:pPr marL="800091" lvl="0" indent="-457200" algn="just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Create a research-ready dataset of regional voices labeled with depression levels.</a:t>
            </a:r>
          </a:p>
          <a:p>
            <a:pPr marL="800091" lvl="0" indent="-457200" algn="just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Support clinicians, psychologists, and educational institutions with AI-assisted early detection tools.</a:t>
            </a:r>
            <a:endParaRPr sz="2400" b="0" i="0" u="none" strike="noStrike" cap="none" dirty="0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7" name="Google Shape;117;p5">
            <a:extLst>
              <a:ext uri="{FF2B5EF4-FFF2-40B4-BE49-F238E27FC236}">
                <a16:creationId xmlns:a16="http://schemas.microsoft.com/office/drawing/2014/main" id="{DA27EABC-3B1F-231F-099D-36BADE37BCD5}"/>
              </a:ext>
            </a:extLst>
          </p:cNvPr>
          <p:cNvSpPr txBox="1"/>
          <p:nvPr/>
        </p:nvSpPr>
        <p:spPr>
          <a:xfrm>
            <a:off x="2895600" y="990600"/>
            <a:ext cx="78486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latin typeface="Trebuchet MS"/>
                <a:ea typeface="Trebuchet MS"/>
                <a:cs typeface="Trebuchet MS"/>
                <a:sym typeface="Trebuchet MS"/>
              </a:rPr>
              <a:t>Scope and Feasibility study</a:t>
            </a:r>
            <a:endParaRPr dirty="0"/>
          </a:p>
        </p:txBody>
      </p:sp>
      <p:pic>
        <p:nvPicPr>
          <p:cNvPr id="118" name="Google Shape;118;p5">
            <a:extLst>
              <a:ext uri="{FF2B5EF4-FFF2-40B4-BE49-F238E27FC236}">
                <a16:creationId xmlns:a16="http://schemas.microsoft.com/office/drawing/2014/main" id="{5F95BE02-4695-433A-FE7A-2CF028602A1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4970"/>
          <a:stretch/>
        </p:blipFill>
        <p:spPr>
          <a:xfrm>
            <a:off x="10901680" y="1"/>
            <a:ext cx="960354" cy="145226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95;p3">
            <a:extLst>
              <a:ext uri="{FF2B5EF4-FFF2-40B4-BE49-F238E27FC236}">
                <a16:creationId xmlns:a16="http://schemas.microsoft.com/office/drawing/2014/main" id="{D879312F-692A-40DC-D0B8-46AEEB1B92E1}"/>
              </a:ext>
            </a:extLst>
          </p:cNvPr>
          <p:cNvSpPr txBox="1"/>
          <p:nvPr/>
        </p:nvSpPr>
        <p:spPr>
          <a:xfrm>
            <a:off x="329967" y="147428"/>
            <a:ext cx="38610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Detecting Depression using vocal cues</a:t>
            </a:r>
            <a:endParaRPr sz="1200" b="0" i="0" u="none" strike="noStrike" cap="none" dirty="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96;p3">
            <a:extLst>
              <a:ext uri="{FF2B5EF4-FFF2-40B4-BE49-F238E27FC236}">
                <a16:creationId xmlns:a16="http://schemas.microsoft.com/office/drawing/2014/main" id="{90A0A900-BFEB-0BC7-DA91-86702312036D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 err="1"/>
              <a:t>Vishruthrallapalli_yuvrajrao_vivanjeevannaik_srujankumarj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203742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6C1DA819-1041-AF43-2A5D-14D176419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>
            <a:extLst>
              <a:ext uri="{FF2B5EF4-FFF2-40B4-BE49-F238E27FC236}">
                <a16:creationId xmlns:a16="http://schemas.microsoft.com/office/drawing/2014/main" id="{D88F3407-CDBE-D083-B823-9EB689737FC0}"/>
              </a:ext>
            </a:extLst>
          </p:cNvPr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5">
            <a:extLst>
              <a:ext uri="{FF2B5EF4-FFF2-40B4-BE49-F238E27FC236}">
                <a16:creationId xmlns:a16="http://schemas.microsoft.com/office/drawing/2014/main" id="{2C8AF76E-5B80-AB13-B1B0-255D5161B7E2}"/>
              </a:ext>
            </a:extLst>
          </p:cNvPr>
          <p:cNvSpPr txBox="1"/>
          <p:nvPr/>
        </p:nvSpPr>
        <p:spPr>
          <a:xfrm>
            <a:off x="329967" y="1617668"/>
            <a:ext cx="11321259" cy="4783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891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r>
              <a:rPr lang="en-US" sz="2400" dirty="0">
                <a:latin typeface="Trebuchet MS"/>
                <a:ea typeface="Trebuchet MS"/>
                <a:cs typeface="Trebuchet MS"/>
                <a:sym typeface="Trebuchet MS"/>
              </a:rPr>
              <a:t>Feasibility</a:t>
            </a:r>
            <a:r>
              <a:rPr lang="en-US" sz="2400" b="0" i="0" u="none" strike="noStrike" cap="none" dirty="0">
                <a:latin typeface="Trebuchet MS"/>
                <a:ea typeface="Trebuchet MS"/>
                <a:cs typeface="Trebuchet MS"/>
                <a:sym typeface="Trebuchet MS"/>
              </a:rPr>
              <a:t>:</a:t>
            </a:r>
          </a:p>
          <a:p>
            <a:pPr marL="342891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endParaRPr lang="en-US" sz="2400" dirty="0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800091" lvl="0" indent="-457200" algn="just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Prior studies (e.g., MIT Lincoln Lab, AVEC 2016) have shown 70–80% accuracy using monolingual vocal data.</a:t>
            </a:r>
          </a:p>
          <a:p>
            <a:pPr marL="800091" lvl="0" indent="-457200" algn="just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Our project builds upon this foundation by adding multilingual and contextual layers.</a:t>
            </a:r>
          </a:p>
          <a:p>
            <a:pPr marL="800091" lvl="0" indent="-457200" algn="just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Implementation is feasible using open-source frameworks (TensorFlow, </a:t>
            </a:r>
            <a:r>
              <a:rPr lang="en-US" sz="2400" dirty="0" err="1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PyTorch</a:t>
            </a: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, </a:t>
            </a:r>
            <a:r>
              <a:rPr lang="en-US" sz="2400" dirty="0" err="1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OpenSMILE</a:t>
            </a: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).</a:t>
            </a:r>
          </a:p>
          <a:p>
            <a:pPr marL="800091" lvl="0" indent="-457200" algn="just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Requires regional voice dataset collection, which is the main challenge for model training.</a:t>
            </a:r>
          </a:p>
        </p:txBody>
      </p:sp>
      <p:sp>
        <p:nvSpPr>
          <p:cNvPr id="117" name="Google Shape;117;p5">
            <a:extLst>
              <a:ext uri="{FF2B5EF4-FFF2-40B4-BE49-F238E27FC236}">
                <a16:creationId xmlns:a16="http://schemas.microsoft.com/office/drawing/2014/main" id="{CFD1B4D8-B6AC-ACA1-E492-3B72D519713B}"/>
              </a:ext>
            </a:extLst>
          </p:cNvPr>
          <p:cNvSpPr txBox="1"/>
          <p:nvPr/>
        </p:nvSpPr>
        <p:spPr>
          <a:xfrm>
            <a:off x="2895600" y="990600"/>
            <a:ext cx="78486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latin typeface="Trebuchet MS"/>
                <a:ea typeface="Trebuchet MS"/>
                <a:cs typeface="Trebuchet MS"/>
                <a:sym typeface="Trebuchet MS"/>
              </a:rPr>
              <a:t>Scope and Feasibility study</a:t>
            </a:r>
            <a:endParaRPr dirty="0"/>
          </a:p>
        </p:txBody>
      </p:sp>
      <p:pic>
        <p:nvPicPr>
          <p:cNvPr id="118" name="Google Shape;118;p5">
            <a:extLst>
              <a:ext uri="{FF2B5EF4-FFF2-40B4-BE49-F238E27FC236}">
                <a16:creationId xmlns:a16="http://schemas.microsoft.com/office/drawing/2014/main" id="{02762D7C-295B-B6B1-BA9D-A1DB0B13341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4970"/>
          <a:stretch/>
        </p:blipFill>
        <p:spPr>
          <a:xfrm>
            <a:off x="10901680" y="1"/>
            <a:ext cx="960354" cy="145226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95;p3">
            <a:extLst>
              <a:ext uri="{FF2B5EF4-FFF2-40B4-BE49-F238E27FC236}">
                <a16:creationId xmlns:a16="http://schemas.microsoft.com/office/drawing/2014/main" id="{2EE54B6A-5BA4-90B6-CA9D-C9EE535C7A5D}"/>
              </a:ext>
            </a:extLst>
          </p:cNvPr>
          <p:cNvSpPr txBox="1"/>
          <p:nvPr/>
        </p:nvSpPr>
        <p:spPr>
          <a:xfrm>
            <a:off x="329967" y="147428"/>
            <a:ext cx="38610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Detecting Depression using vocal cues</a:t>
            </a:r>
            <a:endParaRPr sz="1200" b="0" i="0" u="none" strike="noStrike" cap="none" dirty="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96;p3">
            <a:extLst>
              <a:ext uri="{FF2B5EF4-FFF2-40B4-BE49-F238E27FC236}">
                <a16:creationId xmlns:a16="http://schemas.microsoft.com/office/drawing/2014/main" id="{303F0936-2B61-70A9-4441-EA591AEEDD96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 err="1"/>
              <a:t>Vishruthrallapalli_yuvrajrao_vivanjeevannaik_srujankumarj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361192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840EBE7B-5CB6-558D-767A-F2B657DAA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>
            <a:extLst>
              <a:ext uri="{FF2B5EF4-FFF2-40B4-BE49-F238E27FC236}">
                <a16:creationId xmlns:a16="http://schemas.microsoft.com/office/drawing/2014/main" id="{D71D8CDD-9393-B032-3D9F-BBA4F19831C5}"/>
              </a:ext>
            </a:extLst>
          </p:cNvPr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5">
            <a:extLst>
              <a:ext uri="{FF2B5EF4-FFF2-40B4-BE49-F238E27FC236}">
                <a16:creationId xmlns:a16="http://schemas.microsoft.com/office/drawing/2014/main" id="{A74C5DA5-F2F7-6A24-2152-A9133722AC39}"/>
              </a:ext>
            </a:extLst>
          </p:cNvPr>
          <p:cNvSpPr txBox="1"/>
          <p:nvPr/>
        </p:nvSpPr>
        <p:spPr>
          <a:xfrm>
            <a:off x="329967" y="1617668"/>
            <a:ext cx="11321259" cy="4783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891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r>
              <a:rPr lang="en-US" sz="2400" dirty="0">
                <a:latin typeface="Trebuchet MS"/>
                <a:ea typeface="Trebuchet MS"/>
                <a:cs typeface="Trebuchet MS"/>
                <a:sym typeface="Trebuchet MS"/>
              </a:rPr>
              <a:t>Feasibility</a:t>
            </a:r>
            <a:r>
              <a:rPr lang="en-US" sz="2400" b="0" i="0" u="none" strike="noStrike" cap="none" dirty="0">
                <a:latin typeface="Trebuchet MS"/>
                <a:ea typeface="Trebuchet MS"/>
                <a:cs typeface="Trebuchet MS"/>
                <a:sym typeface="Trebuchet MS"/>
              </a:rPr>
              <a:t>:</a:t>
            </a:r>
          </a:p>
          <a:p>
            <a:pPr marL="342891"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</a:pPr>
            <a:endParaRPr lang="en-US" sz="2400" dirty="0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800091" lvl="0" indent="-457200" algn="just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Hardware needs are minimal — standard microphones and basic processing units are sufficient.</a:t>
            </a:r>
          </a:p>
          <a:p>
            <a:pPr marL="800091" lvl="0" indent="-457200" algn="just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Based on the novelty, data collection and labeling form the major time component.</a:t>
            </a:r>
          </a:p>
          <a:p>
            <a:pPr marL="800091" lvl="0" indent="-457200" algn="just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Feasible for academic setup with potential for real-world clinical trials later.</a:t>
            </a:r>
          </a:p>
        </p:txBody>
      </p:sp>
      <p:sp>
        <p:nvSpPr>
          <p:cNvPr id="117" name="Google Shape;117;p5">
            <a:extLst>
              <a:ext uri="{FF2B5EF4-FFF2-40B4-BE49-F238E27FC236}">
                <a16:creationId xmlns:a16="http://schemas.microsoft.com/office/drawing/2014/main" id="{B64AEA77-ED1F-F049-F883-903EAB20B65E}"/>
              </a:ext>
            </a:extLst>
          </p:cNvPr>
          <p:cNvSpPr txBox="1"/>
          <p:nvPr/>
        </p:nvSpPr>
        <p:spPr>
          <a:xfrm>
            <a:off x="2895600" y="990600"/>
            <a:ext cx="78486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latin typeface="Trebuchet MS"/>
                <a:ea typeface="Trebuchet MS"/>
                <a:cs typeface="Trebuchet MS"/>
                <a:sym typeface="Trebuchet MS"/>
              </a:rPr>
              <a:t>Scope and Feasibility study</a:t>
            </a:r>
            <a:endParaRPr dirty="0"/>
          </a:p>
        </p:txBody>
      </p:sp>
      <p:pic>
        <p:nvPicPr>
          <p:cNvPr id="118" name="Google Shape;118;p5">
            <a:extLst>
              <a:ext uri="{FF2B5EF4-FFF2-40B4-BE49-F238E27FC236}">
                <a16:creationId xmlns:a16="http://schemas.microsoft.com/office/drawing/2014/main" id="{6B89E232-9861-4873-FFCE-70CDA4484D6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4970"/>
          <a:stretch/>
        </p:blipFill>
        <p:spPr>
          <a:xfrm>
            <a:off x="10901680" y="1"/>
            <a:ext cx="960354" cy="145226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95;p3">
            <a:extLst>
              <a:ext uri="{FF2B5EF4-FFF2-40B4-BE49-F238E27FC236}">
                <a16:creationId xmlns:a16="http://schemas.microsoft.com/office/drawing/2014/main" id="{7B84C1FA-E6ED-A444-3E18-4D3744F69A4B}"/>
              </a:ext>
            </a:extLst>
          </p:cNvPr>
          <p:cNvSpPr txBox="1"/>
          <p:nvPr/>
        </p:nvSpPr>
        <p:spPr>
          <a:xfrm>
            <a:off x="329967" y="147428"/>
            <a:ext cx="38610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Detecting Depression using vocal cues</a:t>
            </a:r>
            <a:endParaRPr sz="1200" b="0" i="0" u="none" strike="noStrike" cap="none" dirty="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96;p3">
            <a:extLst>
              <a:ext uri="{FF2B5EF4-FFF2-40B4-BE49-F238E27FC236}">
                <a16:creationId xmlns:a16="http://schemas.microsoft.com/office/drawing/2014/main" id="{1D7DCCA6-007A-F200-2BD1-E95B325F72CA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 err="1"/>
              <a:t>Vishruthrallapalli_yuvrajrao_vivanjeevannaik_srujankumarj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638503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633B8B9B-BFF7-9F5D-8ED3-72B197C55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>
            <a:extLst>
              <a:ext uri="{FF2B5EF4-FFF2-40B4-BE49-F238E27FC236}">
                <a16:creationId xmlns:a16="http://schemas.microsoft.com/office/drawing/2014/main" id="{2EF08046-523F-DE87-8CEB-2101A2D25438}"/>
              </a:ext>
            </a:extLst>
          </p:cNvPr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5">
            <a:extLst>
              <a:ext uri="{FF2B5EF4-FFF2-40B4-BE49-F238E27FC236}">
                <a16:creationId xmlns:a16="http://schemas.microsoft.com/office/drawing/2014/main" id="{1BB22B15-FD66-18DF-C506-171279BBA10B}"/>
              </a:ext>
            </a:extLst>
          </p:cNvPr>
          <p:cNvSpPr txBox="1"/>
          <p:nvPr/>
        </p:nvSpPr>
        <p:spPr>
          <a:xfrm>
            <a:off x="329968" y="2275452"/>
            <a:ext cx="10691994" cy="4125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791" lvl="0" indent="-342900" algn="just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Collecting unbiased and balanced data (gender, accent, age).</a:t>
            </a:r>
          </a:p>
          <a:p>
            <a:pPr marL="685791" lvl="0" indent="-342900" algn="just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Differentiating depression vs temporary emotion.</a:t>
            </a:r>
          </a:p>
          <a:p>
            <a:pPr marL="685791" lvl="0" indent="-342900" algn="just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Handling noisy real-world audio and background interference.</a:t>
            </a:r>
          </a:p>
          <a:p>
            <a:pPr marL="685791" lvl="0" indent="-342900" algn="just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Ethical challenges — privacy &amp; consent in mental health data.</a:t>
            </a:r>
          </a:p>
          <a:p>
            <a:pPr marL="685791" lvl="0" indent="-342900" algn="just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Need for large, labeled multilingual datasets.</a:t>
            </a:r>
          </a:p>
          <a:p>
            <a:pPr marL="685791" lvl="0" indent="-342900" algn="just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Synchronizing audio and video modalities for multimodal analysis.</a:t>
            </a:r>
          </a:p>
        </p:txBody>
      </p:sp>
      <p:sp>
        <p:nvSpPr>
          <p:cNvPr id="117" name="Google Shape;117;p5">
            <a:extLst>
              <a:ext uri="{FF2B5EF4-FFF2-40B4-BE49-F238E27FC236}">
                <a16:creationId xmlns:a16="http://schemas.microsoft.com/office/drawing/2014/main" id="{ECD89936-FE07-8FFD-9611-D81229E6E3B7}"/>
              </a:ext>
            </a:extLst>
          </p:cNvPr>
          <p:cNvSpPr txBox="1"/>
          <p:nvPr/>
        </p:nvSpPr>
        <p:spPr>
          <a:xfrm>
            <a:off x="2895600" y="990600"/>
            <a:ext cx="78486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latin typeface="Trebuchet MS"/>
                <a:sym typeface="Trebuchet MS"/>
              </a:rPr>
              <a:t>Challenges</a:t>
            </a:r>
            <a:endParaRPr dirty="0"/>
          </a:p>
        </p:txBody>
      </p:sp>
      <p:pic>
        <p:nvPicPr>
          <p:cNvPr id="118" name="Google Shape;118;p5">
            <a:extLst>
              <a:ext uri="{FF2B5EF4-FFF2-40B4-BE49-F238E27FC236}">
                <a16:creationId xmlns:a16="http://schemas.microsoft.com/office/drawing/2014/main" id="{8C9BA6D9-44B8-C27D-9D5A-3C7685157CC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4970"/>
          <a:stretch/>
        </p:blipFill>
        <p:spPr>
          <a:xfrm>
            <a:off x="10901680" y="1"/>
            <a:ext cx="960354" cy="145226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95;p3">
            <a:extLst>
              <a:ext uri="{FF2B5EF4-FFF2-40B4-BE49-F238E27FC236}">
                <a16:creationId xmlns:a16="http://schemas.microsoft.com/office/drawing/2014/main" id="{43999904-EB7F-BA9F-9B34-66AD09C00A74}"/>
              </a:ext>
            </a:extLst>
          </p:cNvPr>
          <p:cNvSpPr txBox="1"/>
          <p:nvPr/>
        </p:nvSpPr>
        <p:spPr>
          <a:xfrm>
            <a:off x="329967" y="147428"/>
            <a:ext cx="38610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Detecting Depression using vocal cues</a:t>
            </a:r>
            <a:endParaRPr sz="1200" b="0" i="0" u="none" strike="noStrike" cap="none" dirty="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96;p3">
            <a:extLst>
              <a:ext uri="{FF2B5EF4-FFF2-40B4-BE49-F238E27FC236}">
                <a16:creationId xmlns:a16="http://schemas.microsoft.com/office/drawing/2014/main" id="{19D1511C-38D0-F8C9-151B-5571CF1B4507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 err="1"/>
              <a:t>Vishruthrallapalli_yuvrajrao_vivanjeevannaik_srujankumarj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695995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0DC90C26-D776-DFB2-C162-0E01641B5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>
            <a:extLst>
              <a:ext uri="{FF2B5EF4-FFF2-40B4-BE49-F238E27FC236}">
                <a16:creationId xmlns:a16="http://schemas.microsoft.com/office/drawing/2014/main" id="{86308F2E-1DCF-088C-76F2-B00CEBAFFBDA}"/>
              </a:ext>
            </a:extLst>
          </p:cNvPr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5">
            <a:extLst>
              <a:ext uri="{FF2B5EF4-FFF2-40B4-BE49-F238E27FC236}">
                <a16:creationId xmlns:a16="http://schemas.microsoft.com/office/drawing/2014/main" id="{597789F0-084F-4F5A-C7A0-638BF2101144}"/>
              </a:ext>
            </a:extLst>
          </p:cNvPr>
          <p:cNvSpPr txBox="1"/>
          <p:nvPr/>
        </p:nvSpPr>
        <p:spPr>
          <a:xfrm>
            <a:off x="329967" y="1783114"/>
            <a:ext cx="11026291" cy="25585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791" lvl="0" indent="-342900" algn="just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latin typeface="Trebuchet MS"/>
                <a:ea typeface="Trebuchet MS"/>
                <a:cs typeface="Trebuchet MS"/>
                <a:sym typeface="Trebuchet MS"/>
              </a:rPr>
              <a:t>Study 1: </a:t>
            </a: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Detecting Depression from Facial Actions &amp; Vocal Prosody (Cohn et al., CMU)</a:t>
            </a:r>
          </a:p>
          <a:p>
            <a:pPr marL="685791" lvl="0" indent="-342900" algn="just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Data: 57 diagnosed patients in clinical interviews.</a:t>
            </a:r>
          </a:p>
          <a:p>
            <a:pPr marL="685791" lvl="0" indent="-342900" algn="just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Methods:</a:t>
            </a:r>
          </a:p>
          <a:p>
            <a:pPr marL="1600191" lvl="2" indent="-342900" algn="just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Facial Action Coding System (FACS) – manual &amp; automated AAM.</a:t>
            </a:r>
          </a:p>
          <a:p>
            <a:pPr marL="1600191" lvl="2" indent="-342900" algn="just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Vocal Prosody Analysis – pitch, response latency.</a:t>
            </a:r>
          </a:p>
          <a:p>
            <a:pPr marL="1600191" lvl="2" indent="-342900" algn="just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Classifier: Support Vector Machine (SVM).</a:t>
            </a:r>
          </a:p>
        </p:txBody>
      </p:sp>
      <p:sp>
        <p:nvSpPr>
          <p:cNvPr id="117" name="Google Shape;117;p5">
            <a:extLst>
              <a:ext uri="{FF2B5EF4-FFF2-40B4-BE49-F238E27FC236}">
                <a16:creationId xmlns:a16="http://schemas.microsoft.com/office/drawing/2014/main" id="{52D25479-B8CF-566E-6CF2-F750D74EC1C3}"/>
              </a:ext>
            </a:extLst>
          </p:cNvPr>
          <p:cNvSpPr txBox="1"/>
          <p:nvPr/>
        </p:nvSpPr>
        <p:spPr>
          <a:xfrm>
            <a:off x="2895600" y="990600"/>
            <a:ext cx="78486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latin typeface="Trebuchet MS"/>
                <a:sym typeface="Trebuchet MS"/>
              </a:rPr>
              <a:t>Literature Survey</a:t>
            </a:r>
            <a:endParaRPr dirty="0"/>
          </a:p>
        </p:txBody>
      </p:sp>
      <p:pic>
        <p:nvPicPr>
          <p:cNvPr id="118" name="Google Shape;118;p5">
            <a:extLst>
              <a:ext uri="{FF2B5EF4-FFF2-40B4-BE49-F238E27FC236}">
                <a16:creationId xmlns:a16="http://schemas.microsoft.com/office/drawing/2014/main" id="{C2381C4E-A3BD-1FB0-5804-F12E7D418D2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4970"/>
          <a:stretch/>
        </p:blipFill>
        <p:spPr>
          <a:xfrm>
            <a:off x="10901680" y="1"/>
            <a:ext cx="960354" cy="145226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1713730-47AC-4620-66B0-CCED4F1123B7}"/>
              </a:ext>
            </a:extLst>
          </p:cNvPr>
          <p:cNvSpPr txBox="1"/>
          <p:nvPr/>
        </p:nvSpPr>
        <p:spPr>
          <a:xfrm>
            <a:off x="329967" y="4398193"/>
            <a:ext cx="1138025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91" lvl="0" indent="-342900" algn="just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Accuracy:</a:t>
            </a:r>
          </a:p>
          <a:p>
            <a:pPr marL="1600191" lvl="2" indent="-342900" algn="just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FACS (manual): 88%</a:t>
            </a:r>
          </a:p>
          <a:p>
            <a:pPr marL="1600191" lvl="2" indent="-342900" algn="just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AAM (automated): 79%</a:t>
            </a:r>
          </a:p>
          <a:p>
            <a:pPr marL="1600191" lvl="2" indent="-342900" algn="just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Vocal Prosody: 79%</a:t>
            </a:r>
          </a:p>
          <a:p>
            <a:pPr marL="685791" indent="-342900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Gap: Only English data, no multilingual testing, and limited dataset size.</a:t>
            </a:r>
          </a:p>
        </p:txBody>
      </p:sp>
      <p:sp>
        <p:nvSpPr>
          <p:cNvPr id="4" name="Google Shape;95;p3">
            <a:extLst>
              <a:ext uri="{FF2B5EF4-FFF2-40B4-BE49-F238E27FC236}">
                <a16:creationId xmlns:a16="http://schemas.microsoft.com/office/drawing/2014/main" id="{4DA9F540-6F91-FF74-7BCD-40226A812DF7}"/>
              </a:ext>
            </a:extLst>
          </p:cNvPr>
          <p:cNvSpPr txBox="1"/>
          <p:nvPr/>
        </p:nvSpPr>
        <p:spPr>
          <a:xfrm>
            <a:off x="329967" y="147428"/>
            <a:ext cx="38610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Detecting Depression using vocal cues</a:t>
            </a:r>
            <a:endParaRPr sz="1200" b="0" i="0" u="none" strike="noStrike" cap="none" dirty="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96;p3">
            <a:extLst>
              <a:ext uri="{FF2B5EF4-FFF2-40B4-BE49-F238E27FC236}">
                <a16:creationId xmlns:a16="http://schemas.microsoft.com/office/drawing/2014/main" id="{BEEB6E4C-2302-065B-8D26-2F5CD6CE5859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 err="1"/>
              <a:t>Vishruthrallapalli_yuvrajrao_vivanjeevannaik_srujankumarj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814183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41DCCF6C-A326-6C39-A9F9-67BBDE373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>
            <a:extLst>
              <a:ext uri="{FF2B5EF4-FFF2-40B4-BE49-F238E27FC236}">
                <a16:creationId xmlns:a16="http://schemas.microsoft.com/office/drawing/2014/main" id="{864E5EBB-C15D-41D1-A5E2-68ACE6236035}"/>
              </a:ext>
            </a:extLst>
          </p:cNvPr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5">
            <a:extLst>
              <a:ext uri="{FF2B5EF4-FFF2-40B4-BE49-F238E27FC236}">
                <a16:creationId xmlns:a16="http://schemas.microsoft.com/office/drawing/2014/main" id="{E86EDB59-D2F3-969C-6900-0F947B942999}"/>
              </a:ext>
            </a:extLst>
          </p:cNvPr>
          <p:cNvSpPr txBox="1"/>
          <p:nvPr/>
        </p:nvSpPr>
        <p:spPr>
          <a:xfrm>
            <a:off x="329966" y="1783113"/>
            <a:ext cx="11532067" cy="4474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791" lvl="0" indent="-342900" algn="just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latin typeface="Trebuchet MS"/>
                <a:ea typeface="Trebuchet MS"/>
                <a:cs typeface="Trebuchet MS"/>
                <a:sym typeface="Trebuchet MS"/>
              </a:rPr>
              <a:t>Study 2: </a:t>
            </a: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Detecting Depression Using Vocal, Facial &amp; Semantic Cues (MIT Lincoln Lab)</a:t>
            </a:r>
          </a:p>
          <a:p>
            <a:pPr marL="685791" lvl="0" indent="-342900" algn="just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Dataset: AVEC 2013, labeled using BDI-II (Beck Depression Inventory).</a:t>
            </a:r>
          </a:p>
          <a:p>
            <a:pPr marL="685791" lvl="0" indent="-342900" algn="just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Features:</a:t>
            </a:r>
          </a:p>
          <a:p>
            <a:pPr marL="1600191" lvl="2" indent="-342900" algn="just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Audio: Pitch, loudness, spectral features (</a:t>
            </a:r>
            <a:r>
              <a:rPr lang="en-US" sz="2400" dirty="0" err="1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OpenSMILE</a:t>
            </a: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).</a:t>
            </a:r>
          </a:p>
          <a:p>
            <a:pPr marL="1600191" lvl="2" indent="-342900" algn="just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Visual: Head/eye/mouth movement (Facial landmarks).</a:t>
            </a:r>
          </a:p>
          <a:p>
            <a:pPr marL="1600191" lvl="2" indent="-342900" algn="just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Text: Word choice analysis (LIWC).</a:t>
            </a:r>
          </a:p>
          <a:p>
            <a:pPr marL="685791" indent="-342900" algn="just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Model: Support Vector Regression (SVR).</a:t>
            </a:r>
          </a:p>
          <a:p>
            <a:pPr marL="685791" indent="-342900" algn="just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Results:</a:t>
            </a:r>
          </a:p>
          <a:p>
            <a:pPr marL="1600191" lvl="2" indent="-342900" algn="just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Audio: 0.58 correlation</a:t>
            </a:r>
          </a:p>
          <a:p>
            <a:pPr marL="1600191" lvl="2" indent="-342900" algn="just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Visual: 0.52 </a:t>
            </a:r>
          </a:p>
          <a:p>
            <a:pPr marL="1600191" lvl="2" indent="-342900" algn="just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Text: 0.46</a:t>
            </a:r>
          </a:p>
          <a:p>
            <a:pPr marL="685791" indent="-342900" algn="just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7" name="Google Shape;117;p5">
            <a:extLst>
              <a:ext uri="{FF2B5EF4-FFF2-40B4-BE49-F238E27FC236}">
                <a16:creationId xmlns:a16="http://schemas.microsoft.com/office/drawing/2014/main" id="{38696F8B-4FEB-3BF9-128B-A1DA406B4BE9}"/>
              </a:ext>
            </a:extLst>
          </p:cNvPr>
          <p:cNvSpPr txBox="1"/>
          <p:nvPr/>
        </p:nvSpPr>
        <p:spPr>
          <a:xfrm>
            <a:off x="2895600" y="990600"/>
            <a:ext cx="78486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latin typeface="Trebuchet MS"/>
                <a:sym typeface="Trebuchet MS"/>
              </a:rPr>
              <a:t>Literature Survey</a:t>
            </a:r>
            <a:endParaRPr dirty="0"/>
          </a:p>
        </p:txBody>
      </p:sp>
      <p:pic>
        <p:nvPicPr>
          <p:cNvPr id="118" name="Google Shape;118;p5">
            <a:extLst>
              <a:ext uri="{FF2B5EF4-FFF2-40B4-BE49-F238E27FC236}">
                <a16:creationId xmlns:a16="http://schemas.microsoft.com/office/drawing/2014/main" id="{93479023-5994-ED53-ECB5-D6FC5A1F499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4970"/>
          <a:stretch/>
        </p:blipFill>
        <p:spPr>
          <a:xfrm>
            <a:off x="10901680" y="1"/>
            <a:ext cx="960354" cy="145226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5C4ED2E-924D-0695-A814-DED61E9FF3CD}"/>
              </a:ext>
            </a:extLst>
          </p:cNvPr>
          <p:cNvSpPr txBox="1"/>
          <p:nvPr/>
        </p:nvSpPr>
        <p:spPr>
          <a:xfrm>
            <a:off x="5048279" y="5057499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91" indent="-342900" algn="just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Multimodal fusion: 0.65+ correlation</a:t>
            </a:r>
          </a:p>
          <a:p>
            <a:pPr marL="685791" indent="-342900" algn="just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Gap: Monolingual data, small dataset, limited real-world application.</a:t>
            </a:r>
          </a:p>
        </p:txBody>
      </p:sp>
      <p:sp>
        <p:nvSpPr>
          <p:cNvPr id="5" name="Google Shape;95;p3">
            <a:extLst>
              <a:ext uri="{FF2B5EF4-FFF2-40B4-BE49-F238E27FC236}">
                <a16:creationId xmlns:a16="http://schemas.microsoft.com/office/drawing/2014/main" id="{D185524D-9102-76FC-AC2D-2395B73DD416}"/>
              </a:ext>
            </a:extLst>
          </p:cNvPr>
          <p:cNvSpPr txBox="1"/>
          <p:nvPr/>
        </p:nvSpPr>
        <p:spPr>
          <a:xfrm>
            <a:off x="329967" y="147428"/>
            <a:ext cx="38610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Detecting Depression using vocal cues</a:t>
            </a:r>
            <a:endParaRPr sz="1200" b="0" i="0" u="none" strike="noStrike" cap="none" dirty="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96;p3">
            <a:extLst>
              <a:ext uri="{FF2B5EF4-FFF2-40B4-BE49-F238E27FC236}">
                <a16:creationId xmlns:a16="http://schemas.microsoft.com/office/drawing/2014/main" id="{AC771782-EA07-6D39-F4DA-16FC60895E23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 err="1"/>
              <a:t>Vishruthrallapalli_yuvrajrao_vivanjeevannaik_srujankumarj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196283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634297C1-93CC-83F8-ABB4-0757DB0D8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>
            <a:extLst>
              <a:ext uri="{FF2B5EF4-FFF2-40B4-BE49-F238E27FC236}">
                <a16:creationId xmlns:a16="http://schemas.microsoft.com/office/drawing/2014/main" id="{E1C5646C-3AFD-73A9-F94E-925CB5827F74}"/>
              </a:ext>
            </a:extLst>
          </p:cNvPr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5">
            <a:extLst>
              <a:ext uri="{FF2B5EF4-FFF2-40B4-BE49-F238E27FC236}">
                <a16:creationId xmlns:a16="http://schemas.microsoft.com/office/drawing/2014/main" id="{3242AFA0-587E-5700-5108-C2A53C7EF5F5}"/>
              </a:ext>
            </a:extLst>
          </p:cNvPr>
          <p:cNvSpPr txBox="1"/>
          <p:nvPr/>
        </p:nvSpPr>
        <p:spPr>
          <a:xfrm>
            <a:off x="329966" y="1783113"/>
            <a:ext cx="11532067" cy="4474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791" lvl="0" indent="-342900" algn="just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latin typeface="Trebuchet MS"/>
                <a:ea typeface="Trebuchet MS"/>
                <a:cs typeface="Trebuchet MS"/>
                <a:sym typeface="Trebuchet MS"/>
              </a:rPr>
              <a:t>Study 3: </a:t>
            </a: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Detecting Depression Severity from Vocal Prosody Yang, Fairbairn &amp; Cohn (IEEE TAC, 2013) – Univ. of Pittsburgh</a:t>
            </a:r>
          </a:p>
          <a:p>
            <a:pPr marL="342891" lvl="0" algn="just">
              <a:buClr>
                <a:srgbClr val="000000"/>
              </a:buClr>
              <a:buSzPts val="2400"/>
            </a:pPr>
            <a:endParaRPr lang="en-US" sz="2400" dirty="0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685791" lvl="0" indent="-342900" algn="just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Studied 57 patients across treatment sessions using vocal prosody (pitch, tone, timing).</a:t>
            </a:r>
          </a:p>
          <a:p>
            <a:pPr marL="685791" lvl="0" indent="-342900" algn="just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Prosody explained ~60% variance in depression scores, 69% accuracy achieved.	</a:t>
            </a:r>
          </a:p>
          <a:p>
            <a:pPr marL="685791" lvl="0" indent="-342900" algn="just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Switching pauses better indicators than pitch.	</a:t>
            </a:r>
          </a:p>
          <a:p>
            <a:pPr marL="685791" lvl="0" indent="-342900" algn="just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Interviewer’s tone also varied with patient mood.	</a:t>
            </a:r>
          </a:p>
          <a:p>
            <a:pPr marL="685791" lvl="0" indent="-342900" algn="just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Gaps: Only English, clinical data, no multimodal or multilingual features.</a:t>
            </a:r>
          </a:p>
          <a:p>
            <a:pPr marL="685791" indent="-342900" algn="just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17" name="Google Shape;117;p5">
            <a:extLst>
              <a:ext uri="{FF2B5EF4-FFF2-40B4-BE49-F238E27FC236}">
                <a16:creationId xmlns:a16="http://schemas.microsoft.com/office/drawing/2014/main" id="{1B295098-36AA-8325-3F78-64497B673308}"/>
              </a:ext>
            </a:extLst>
          </p:cNvPr>
          <p:cNvSpPr txBox="1"/>
          <p:nvPr/>
        </p:nvSpPr>
        <p:spPr>
          <a:xfrm>
            <a:off x="2895600" y="990600"/>
            <a:ext cx="78486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latin typeface="Trebuchet MS"/>
                <a:sym typeface="Trebuchet MS"/>
              </a:rPr>
              <a:t>Literature Survey</a:t>
            </a:r>
            <a:endParaRPr dirty="0"/>
          </a:p>
        </p:txBody>
      </p:sp>
      <p:pic>
        <p:nvPicPr>
          <p:cNvPr id="118" name="Google Shape;118;p5">
            <a:extLst>
              <a:ext uri="{FF2B5EF4-FFF2-40B4-BE49-F238E27FC236}">
                <a16:creationId xmlns:a16="http://schemas.microsoft.com/office/drawing/2014/main" id="{8089ED07-C63B-822D-1C1C-257E275B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4970"/>
          <a:stretch/>
        </p:blipFill>
        <p:spPr>
          <a:xfrm>
            <a:off x="10901680" y="1"/>
            <a:ext cx="960354" cy="145226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95;p3">
            <a:extLst>
              <a:ext uri="{FF2B5EF4-FFF2-40B4-BE49-F238E27FC236}">
                <a16:creationId xmlns:a16="http://schemas.microsoft.com/office/drawing/2014/main" id="{6A3D2BEC-84E0-8ABF-B777-81238C9F61FD}"/>
              </a:ext>
            </a:extLst>
          </p:cNvPr>
          <p:cNvSpPr txBox="1"/>
          <p:nvPr/>
        </p:nvSpPr>
        <p:spPr>
          <a:xfrm>
            <a:off x="329967" y="147428"/>
            <a:ext cx="38610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Detecting Depression using vocal cues</a:t>
            </a:r>
            <a:endParaRPr sz="1200" b="0" i="0" u="none" strike="noStrike" cap="none" dirty="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96;p3">
            <a:extLst>
              <a:ext uri="{FF2B5EF4-FFF2-40B4-BE49-F238E27FC236}">
                <a16:creationId xmlns:a16="http://schemas.microsoft.com/office/drawing/2014/main" id="{83FD451B-8B45-D311-F17D-09B559B6D756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 err="1"/>
              <a:t>Vishruthrallapalli_yuvrajrao_vivanjeevannaik_srujankumarj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351648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56531BF1-B4FF-CB7E-E140-E0D27ADEC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>
            <a:extLst>
              <a:ext uri="{FF2B5EF4-FFF2-40B4-BE49-F238E27FC236}">
                <a16:creationId xmlns:a16="http://schemas.microsoft.com/office/drawing/2014/main" id="{6A3D6CD5-D525-3D21-CE7A-CAD0091C0BAB}"/>
              </a:ext>
            </a:extLst>
          </p:cNvPr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5">
            <a:extLst>
              <a:ext uri="{FF2B5EF4-FFF2-40B4-BE49-F238E27FC236}">
                <a16:creationId xmlns:a16="http://schemas.microsoft.com/office/drawing/2014/main" id="{CE819AE2-12A6-431B-8308-AFAE266800BB}"/>
              </a:ext>
            </a:extLst>
          </p:cNvPr>
          <p:cNvSpPr txBox="1"/>
          <p:nvPr/>
        </p:nvSpPr>
        <p:spPr>
          <a:xfrm>
            <a:off x="329966" y="1783113"/>
            <a:ext cx="11532067" cy="4474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791" lvl="0" indent="-342900" algn="just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latin typeface="Trebuchet MS"/>
                <a:ea typeface="Trebuchet MS"/>
                <a:cs typeface="Trebuchet MS"/>
                <a:sym typeface="Trebuchet MS"/>
              </a:rPr>
              <a:t>Study 4: </a:t>
            </a: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AI-Enhanced Emotional Assessment </a:t>
            </a:r>
            <a:r>
              <a:rPr lang="en-US" sz="2400" dirty="0" err="1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Suryawanshi</a:t>
            </a: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 et al., IJIRT (2024)</a:t>
            </a:r>
          </a:p>
          <a:p>
            <a:pPr marL="342891" lvl="0" algn="just">
              <a:buClr>
                <a:srgbClr val="000000"/>
              </a:buClr>
              <a:buSzPts val="2400"/>
            </a:pPr>
            <a:endParaRPr lang="en-US" sz="2400" dirty="0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685791" indent="-342900" algn="just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Used facial + vocal cues to detect depression.</a:t>
            </a:r>
          </a:p>
          <a:p>
            <a:pPr marL="685791" indent="-342900" algn="just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CNN for facial emotions, Naive Bayes + NLP for speech tone &amp; sentiment.</a:t>
            </a:r>
          </a:p>
          <a:p>
            <a:pPr marL="685791" indent="-342900" algn="just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Combined model improved F1-score by 6–9%.	</a:t>
            </a:r>
          </a:p>
          <a:p>
            <a:pPr marL="685791" indent="-342900" algn="just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Found low expressivity &amp; weak speech energy in depressed subjects.	</a:t>
            </a:r>
          </a:p>
          <a:p>
            <a:pPr marL="685791" indent="-342900" algn="just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Gaps: No regional or multilingual dataset; limited multimodal sync.</a:t>
            </a:r>
          </a:p>
        </p:txBody>
      </p:sp>
      <p:sp>
        <p:nvSpPr>
          <p:cNvPr id="117" name="Google Shape;117;p5">
            <a:extLst>
              <a:ext uri="{FF2B5EF4-FFF2-40B4-BE49-F238E27FC236}">
                <a16:creationId xmlns:a16="http://schemas.microsoft.com/office/drawing/2014/main" id="{525B84F0-5DC6-9C24-AB7D-87C17FAAD2B7}"/>
              </a:ext>
            </a:extLst>
          </p:cNvPr>
          <p:cNvSpPr txBox="1"/>
          <p:nvPr/>
        </p:nvSpPr>
        <p:spPr>
          <a:xfrm>
            <a:off x="2895600" y="990600"/>
            <a:ext cx="78486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latin typeface="Trebuchet MS"/>
                <a:sym typeface="Trebuchet MS"/>
              </a:rPr>
              <a:t>Literature Survey</a:t>
            </a:r>
            <a:endParaRPr dirty="0"/>
          </a:p>
        </p:txBody>
      </p:sp>
      <p:pic>
        <p:nvPicPr>
          <p:cNvPr id="118" name="Google Shape;118;p5">
            <a:extLst>
              <a:ext uri="{FF2B5EF4-FFF2-40B4-BE49-F238E27FC236}">
                <a16:creationId xmlns:a16="http://schemas.microsoft.com/office/drawing/2014/main" id="{4A86871B-07F5-20FF-2DE6-103B89F4D3F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4970"/>
          <a:stretch/>
        </p:blipFill>
        <p:spPr>
          <a:xfrm>
            <a:off x="10901680" y="1"/>
            <a:ext cx="960354" cy="145226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95;p3">
            <a:extLst>
              <a:ext uri="{FF2B5EF4-FFF2-40B4-BE49-F238E27FC236}">
                <a16:creationId xmlns:a16="http://schemas.microsoft.com/office/drawing/2014/main" id="{DAFFBDD6-7C61-D779-DAA5-48CBA920E98D}"/>
              </a:ext>
            </a:extLst>
          </p:cNvPr>
          <p:cNvSpPr txBox="1"/>
          <p:nvPr/>
        </p:nvSpPr>
        <p:spPr>
          <a:xfrm>
            <a:off x="329967" y="147428"/>
            <a:ext cx="38610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Detecting Depression using vocal cues</a:t>
            </a:r>
            <a:endParaRPr sz="1200" b="0" i="0" u="none" strike="noStrike" cap="none" dirty="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96;p3">
            <a:extLst>
              <a:ext uri="{FF2B5EF4-FFF2-40B4-BE49-F238E27FC236}">
                <a16:creationId xmlns:a16="http://schemas.microsoft.com/office/drawing/2014/main" id="{470D9087-B4E8-79B8-139C-4A430A4F6416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 err="1"/>
              <a:t>Vishruthrallapalli_yuvrajrao_vivanjeevannaik_srujankumarj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389688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CE2165C9-24A2-52A3-B67E-0249217E4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>
            <a:extLst>
              <a:ext uri="{FF2B5EF4-FFF2-40B4-BE49-F238E27FC236}">
                <a16:creationId xmlns:a16="http://schemas.microsoft.com/office/drawing/2014/main" id="{C29AE7A4-517A-2D87-786D-3D8A364E092B}"/>
              </a:ext>
            </a:extLst>
          </p:cNvPr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5">
            <a:extLst>
              <a:ext uri="{FF2B5EF4-FFF2-40B4-BE49-F238E27FC236}">
                <a16:creationId xmlns:a16="http://schemas.microsoft.com/office/drawing/2014/main" id="{F6EDAF22-CDA2-7CD2-A9C6-A3C4B5CAB17F}"/>
              </a:ext>
            </a:extLst>
          </p:cNvPr>
          <p:cNvSpPr txBox="1"/>
          <p:nvPr/>
        </p:nvSpPr>
        <p:spPr>
          <a:xfrm>
            <a:off x="329968" y="1783113"/>
            <a:ext cx="11532066" cy="4474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891" lvl="0" algn="just">
              <a:buClr>
                <a:srgbClr val="000000"/>
              </a:buClr>
              <a:buSzPts val="2400"/>
            </a:pPr>
            <a:r>
              <a:rPr lang="en-US" sz="2400" dirty="0">
                <a:latin typeface="Trebuchet MS"/>
                <a:ea typeface="Trebuchet MS"/>
                <a:cs typeface="Trebuchet MS"/>
                <a:sym typeface="Trebuchet MS"/>
              </a:rPr>
              <a:t>Insights from Literature:</a:t>
            </a:r>
          </a:p>
          <a:p>
            <a:pPr marL="342891" lvl="0" algn="just">
              <a:buClr>
                <a:srgbClr val="000000"/>
              </a:buClr>
              <a:buSzPts val="2400"/>
            </a:pPr>
            <a:endParaRPr lang="en-US" sz="2400" dirty="0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685791" lvl="0" indent="-342900" algn="just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Vocal tone is a reliable depression marker.</a:t>
            </a:r>
          </a:p>
          <a:p>
            <a:pPr marL="685791" lvl="0" indent="-342900" algn="just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Facial cues enhance accuracy when combined with speech.</a:t>
            </a:r>
          </a:p>
          <a:p>
            <a:pPr marL="685791" lvl="0" indent="-342900" algn="just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Multimodal fusion outperforms single-modality systems.</a:t>
            </a:r>
          </a:p>
          <a:p>
            <a:pPr marL="685791" lvl="0" indent="-342900" algn="just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Current systems lack regional adaptability and cross-language robustness.</a:t>
            </a:r>
          </a:p>
          <a:p>
            <a:pPr marL="685791" lvl="0" indent="-342900" algn="just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Need to explore transfer learning with multilingual emotional data.</a:t>
            </a:r>
          </a:p>
        </p:txBody>
      </p:sp>
      <p:sp>
        <p:nvSpPr>
          <p:cNvPr id="117" name="Google Shape;117;p5">
            <a:extLst>
              <a:ext uri="{FF2B5EF4-FFF2-40B4-BE49-F238E27FC236}">
                <a16:creationId xmlns:a16="http://schemas.microsoft.com/office/drawing/2014/main" id="{407C549B-D1FA-79C6-EC0B-427902A8DB35}"/>
              </a:ext>
            </a:extLst>
          </p:cNvPr>
          <p:cNvSpPr txBox="1"/>
          <p:nvPr/>
        </p:nvSpPr>
        <p:spPr>
          <a:xfrm>
            <a:off x="2895600" y="990600"/>
            <a:ext cx="78486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latin typeface="Trebuchet MS"/>
                <a:sym typeface="Trebuchet MS"/>
              </a:rPr>
              <a:t>Literature Survey</a:t>
            </a:r>
            <a:endParaRPr dirty="0"/>
          </a:p>
        </p:txBody>
      </p:sp>
      <p:pic>
        <p:nvPicPr>
          <p:cNvPr id="118" name="Google Shape;118;p5">
            <a:extLst>
              <a:ext uri="{FF2B5EF4-FFF2-40B4-BE49-F238E27FC236}">
                <a16:creationId xmlns:a16="http://schemas.microsoft.com/office/drawing/2014/main" id="{BC9A9803-2017-9650-C760-B69333869ED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4970"/>
          <a:stretch/>
        </p:blipFill>
        <p:spPr>
          <a:xfrm>
            <a:off x="10901680" y="1"/>
            <a:ext cx="960354" cy="145226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95;p3">
            <a:extLst>
              <a:ext uri="{FF2B5EF4-FFF2-40B4-BE49-F238E27FC236}">
                <a16:creationId xmlns:a16="http://schemas.microsoft.com/office/drawing/2014/main" id="{8F9A2DD8-F885-D341-0B7B-20F2E0B998C5}"/>
              </a:ext>
            </a:extLst>
          </p:cNvPr>
          <p:cNvSpPr txBox="1"/>
          <p:nvPr/>
        </p:nvSpPr>
        <p:spPr>
          <a:xfrm>
            <a:off x="329967" y="147428"/>
            <a:ext cx="38610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Detecting Depression using vocal cues</a:t>
            </a:r>
            <a:endParaRPr sz="1200" b="0" i="0" u="none" strike="noStrike" cap="none" dirty="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96;p3">
            <a:extLst>
              <a:ext uri="{FF2B5EF4-FFF2-40B4-BE49-F238E27FC236}">
                <a16:creationId xmlns:a16="http://schemas.microsoft.com/office/drawing/2014/main" id="{D136C4D4-C6E6-CEE0-3BC3-A223201092E3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 err="1"/>
              <a:t>Vishruthrallapalli_yuvrajrao_vivanjeevannaik_srujankumarj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350636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"/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6"/>
          <p:cNvSpPr txBox="1"/>
          <p:nvPr/>
        </p:nvSpPr>
        <p:spPr>
          <a:xfrm>
            <a:off x="329967" y="1930312"/>
            <a:ext cx="11532067" cy="4470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800" lvl="0" indent="-342900" algn="just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latin typeface="Trebuchet MS"/>
                <a:ea typeface="Trebuchet MS"/>
                <a:cs typeface="Trebuchet MS"/>
                <a:sym typeface="Trebuchet MS"/>
              </a:rPr>
              <a:t>Clinical Diagnosis: </a:t>
            </a: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Assist psychiatrists in early depression screening.	</a:t>
            </a:r>
          </a:p>
          <a:p>
            <a:pPr marL="685800" lvl="0" indent="-342900" algn="just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latin typeface="Trebuchet MS"/>
                <a:ea typeface="Trebuchet MS"/>
                <a:cs typeface="Trebuchet MS"/>
                <a:sym typeface="Trebuchet MS"/>
              </a:rPr>
              <a:t>Tele-health Platforms: </a:t>
            </a: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Integrate into virtual consultations for remote monitoring.	</a:t>
            </a:r>
          </a:p>
          <a:p>
            <a:pPr marL="685800" lvl="0" indent="-342900" algn="just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latin typeface="Trebuchet MS"/>
                <a:ea typeface="Trebuchet MS"/>
                <a:cs typeface="Trebuchet MS"/>
                <a:sym typeface="Trebuchet MS"/>
              </a:rPr>
              <a:t>Mental Health Apps: </a:t>
            </a: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Used in mobile apps for self-assessment and daily mood tracking.</a:t>
            </a:r>
          </a:p>
          <a:p>
            <a:pPr marL="685800" lvl="0" indent="-342900" algn="just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latin typeface="Trebuchet MS"/>
                <a:ea typeface="Trebuchet MS"/>
                <a:cs typeface="Trebuchet MS"/>
                <a:sym typeface="Trebuchet MS"/>
              </a:rPr>
              <a:t>Hospitals &amp; Counseling Centers: </a:t>
            </a: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Support patient progress tracking through voice data.	</a:t>
            </a:r>
          </a:p>
          <a:p>
            <a:pPr marL="685800" lvl="0" indent="-342900" algn="just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latin typeface="Trebuchet MS"/>
                <a:ea typeface="Trebuchet MS"/>
                <a:cs typeface="Trebuchet MS"/>
                <a:sym typeface="Trebuchet MS"/>
              </a:rPr>
              <a:t>Educational Institutions: </a:t>
            </a: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Identify students under stress or emotional distress.</a:t>
            </a:r>
          </a:p>
          <a:p>
            <a:pPr marL="685800" lvl="0" indent="-342900" algn="just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latin typeface="Trebuchet MS"/>
                <a:ea typeface="Trebuchet MS"/>
                <a:cs typeface="Trebuchet MS"/>
                <a:sym typeface="Trebuchet MS"/>
              </a:rPr>
              <a:t>Corporate Wellness Programs: </a:t>
            </a: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Monitor employee well-being during feedback or calls.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29" name="Google Shape;129;p6"/>
          <p:cNvSpPr txBox="1"/>
          <p:nvPr/>
        </p:nvSpPr>
        <p:spPr>
          <a:xfrm>
            <a:off x="2895600" y="990600"/>
            <a:ext cx="78486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latin typeface="Trebuchet MS"/>
                <a:ea typeface="Trebuchet MS"/>
                <a:cs typeface="Trebuchet MS"/>
                <a:sym typeface="Trebuchet MS"/>
              </a:rPr>
              <a:t>Applications/Use cases</a:t>
            </a:r>
            <a:endParaRPr dirty="0"/>
          </a:p>
        </p:txBody>
      </p:sp>
      <p:pic>
        <p:nvPicPr>
          <p:cNvPr id="130" name="Google Shape;130;p6"/>
          <p:cNvPicPr preferRelativeResize="0"/>
          <p:nvPr/>
        </p:nvPicPr>
        <p:blipFill rotWithShape="1">
          <a:blip r:embed="rId3">
            <a:alphaModFix/>
          </a:blip>
          <a:srcRect t="4970"/>
          <a:stretch/>
        </p:blipFill>
        <p:spPr>
          <a:xfrm>
            <a:off x="10861040" y="1"/>
            <a:ext cx="1000994" cy="158115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95;p3">
            <a:extLst>
              <a:ext uri="{FF2B5EF4-FFF2-40B4-BE49-F238E27FC236}">
                <a16:creationId xmlns:a16="http://schemas.microsoft.com/office/drawing/2014/main" id="{C8BC9F11-FF88-D2B1-09AF-C324985C588C}"/>
              </a:ext>
            </a:extLst>
          </p:cNvPr>
          <p:cNvSpPr txBox="1"/>
          <p:nvPr/>
        </p:nvSpPr>
        <p:spPr>
          <a:xfrm>
            <a:off x="329967" y="147428"/>
            <a:ext cx="38610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Detecting Depression using vocal cues</a:t>
            </a:r>
            <a:endParaRPr sz="1200" b="0" i="0" u="none" strike="noStrike" cap="none" dirty="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96;p3">
            <a:extLst>
              <a:ext uri="{FF2B5EF4-FFF2-40B4-BE49-F238E27FC236}">
                <a16:creationId xmlns:a16="http://schemas.microsoft.com/office/drawing/2014/main" id="{67DE286E-8F44-9272-5F70-4A9B9F742952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xfrm>
            <a:off x="3686175" y="6459538"/>
            <a:ext cx="48228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 err="1"/>
              <a:t>Vishruthrallapalli_yuvrajrao_vivanjeevannaik_srujankumarj</a:t>
            </a: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4CAA4B7E-C5C9-C546-D535-79E20EF39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">
            <a:extLst>
              <a:ext uri="{FF2B5EF4-FFF2-40B4-BE49-F238E27FC236}">
                <a16:creationId xmlns:a16="http://schemas.microsoft.com/office/drawing/2014/main" id="{147DB76D-B049-2143-7E39-66B89AE95DF0}"/>
              </a:ext>
            </a:extLst>
          </p:cNvPr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6">
            <a:extLst>
              <a:ext uri="{FF2B5EF4-FFF2-40B4-BE49-F238E27FC236}">
                <a16:creationId xmlns:a16="http://schemas.microsoft.com/office/drawing/2014/main" id="{9C20A26C-2C50-0790-5ED1-87BA0ABDE900}"/>
              </a:ext>
            </a:extLst>
          </p:cNvPr>
          <p:cNvSpPr txBox="1"/>
          <p:nvPr/>
        </p:nvSpPr>
        <p:spPr>
          <a:xfrm>
            <a:off x="329967" y="1930312"/>
            <a:ext cx="11532067" cy="4470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800" lvl="0" indent="-342900" algn="just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latin typeface="Trebuchet MS"/>
                <a:ea typeface="Trebuchet MS"/>
                <a:cs typeface="Trebuchet MS"/>
                <a:sym typeface="Trebuchet MS"/>
              </a:rPr>
              <a:t>Public Health Surveys: </a:t>
            </a: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Large-scale depression trend analysis in regions.</a:t>
            </a:r>
          </a:p>
          <a:p>
            <a:pPr marL="685800" lvl="0" indent="-342900" algn="just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latin typeface="Trebuchet MS"/>
                <a:ea typeface="Trebuchet MS"/>
                <a:cs typeface="Trebuchet MS"/>
                <a:sym typeface="Trebuchet MS"/>
              </a:rPr>
              <a:t>Social Media Monitoring: </a:t>
            </a: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Detect emotional decline through posted audio or video.</a:t>
            </a:r>
          </a:p>
          <a:p>
            <a:pPr marL="685800" lvl="0" indent="-342900" algn="just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latin typeface="Trebuchet MS"/>
                <a:ea typeface="Trebuchet MS"/>
                <a:cs typeface="Trebuchet MS"/>
                <a:sym typeface="Trebuchet MS"/>
              </a:rPr>
              <a:t>Smart Devices &amp; Wearables: </a:t>
            </a: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Voice-based emotion tracking in smartwatches/assistants.</a:t>
            </a:r>
          </a:p>
          <a:p>
            <a:pPr marL="685800" lvl="0" indent="-342900" algn="just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latin typeface="Trebuchet MS"/>
                <a:ea typeface="Trebuchet MS"/>
                <a:cs typeface="Trebuchet MS"/>
                <a:sym typeface="Trebuchet MS"/>
              </a:rPr>
              <a:t>Call Centers: </a:t>
            </a: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Identify burnout or fatigue in customer support agents.</a:t>
            </a:r>
          </a:p>
          <a:p>
            <a:pPr marL="685800" lvl="0" indent="-342900" algn="just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latin typeface="Trebuchet MS"/>
                <a:ea typeface="Trebuchet MS"/>
                <a:cs typeface="Trebuchet MS"/>
                <a:sym typeface="Trebuchet MS"/>
              </a:rPr>
              <a:t>Rehabilitation Centers: </a:t>
            </a: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Track improvement in therapy or addiction recovery.</a:t>
            </a:r>
          </a:p>
          <a:p>
            <a:pPr marL="685800" lvl="0" indent="-342900" algn="just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latin typeface="Trebuchet MS"/>
                <a:ea typeface="Trebuchet MS"/>
                <a:cs typeface="Trebuchet MS"/>
                <a:sym typeface="Trebuchet MS"/>
              </a:rPr>
              <a:t>Research Institutions: </a:t>
            </a: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Benchmark data for emotion recognition and AI ethics studies.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29" name="Google Shape;129;p6">
            <a:extLst>
              <a:ext uri="{FF2B5EF4-FFF2-40B4-BE49-F238E27FC236}">
                <a16:creationId xmlns:a16="http://schemas.microsoft.com/office/drawing/2014/main" id="{94D7291B-6E92-D763-1035-92A015904407}"/>
              </a:ext>
            </a:extLst>
          </p:cNvPr>
          <p:cNvSpPr txBox="1"/>
          <p:nvPr/>
        </p:nvSpPr>
        <p:spPr>
          <a:xfrm>
            <a:off x="2895600" y="990600"/>
            <a:ext cx="78486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latin typeface="Trebuchet MS"/>
                <a:ea typeface="Trebuchet MS"/>
                <a:cs typeface="Trebuchet MS"/>
                <a:sym typeface="Trebuchet MS"/>
              </a:rPr>
              <a:t>Applications/Use cases</a:t>
            </a:r>
            <a:endParaRPr dirty="0"/>
          </a:p>
        </p:txBody>
      </p:sp>
      <p:pic>
        <p:nvPicPr>
          <p:cNvPr id="130" name="Google Shape;130;p6">
            <a:extLst>
              <a:ext uri="{FF2B5EF4-FFF2-40B4-BE49-F238E27FC236}">
                <a16:creationId xmlns:a16="http://schemas.microsoft.com/office/drawing/2014/main" id="{5D5AEFCA-13FF-6C59-0197-8925CB26E4A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4970"/>
          <a:stretch/>
        </p:blipFill>
        <p:spPr>
          <a:xfrm>
            <a:off x="10861040" y="1"/>
            <a:ext cx="1000994" cy="158115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95;p3">
            <a:extLst>
              <a:ext uri="{FF2B5EF4-FFF2-40B4-BE49-F238E27FC236}">
                <a16:creationId xmlns:a16="http://schemas.microsoft.com/office/drawing/2014/main" id="{949F23BD-6DEC-2D3D-3B91-0DFD52E0B52E}"/>
              </a:ext>
            </a:extLst>
          </p:cNvPr>
          <p:cNvSpPr txBox="1"/>
          <p:nvPr/>
        </p:nvSpPr>
        <p:spPr>
          <a:xfrm>
            <a:off x="329967" y="147428"/>
            <a:ext cx="38610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Detecting Depression using vocal cues</a:t>
            </a:r>
            <a:endParaRPr sz="1200" b="0" i="0" u="none" strike="noStrike" cap="none" dirty="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96;p3">
            <a:extLst>
              <a:ext uri="{FF2B5EF4-FFF2-40B4-BE49-F238E27FC236}">
                <a16:creationId xmlns:a16="http://schemas.microsoft.com/office/drawing/2014/main" id="{4A212680-4712-4EC3-A503-FCDF4FC1C9FC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 err="1"/>
              <a:t>Vishruthrallapalli_yuvrajrao_vivanjeevannaik_srujankumarj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436054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004079b4df_0_0"/>
          <p:cNvSpPr/>
          <p:nvPr/>
        </p:nvSpPr>
        <p:spPr>
          <a:xfrm>
            <a:off x="3048000" y="1581155"/>
            <a:ext cx="7620000" cy="3660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3004079b4df_0_0"/>
          <p:cNvSpPr txBox="1"/>
          <p:nvPr/>
        </p:nvSpPr>
        <p:spPr>
          <a:xfrm>
            <a:off x="329968" y="1746686"/>
            <a:ext cx="10888638" cy="4654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800" lvl="0" indent="-342900" algn="just"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Add Facial Analysis (AAM) and Language-based sentiment for multimodal prediction.</a:t>
            </a:r>
          </a:p>
          <a:p>
            <a:pPr marL="685800" lvl="0" indent="-342900" algn="just"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Collect multilingual depression datasets (recordings in Indian languages).</a:t>
            </a:r>
          </a:p>
          <a:p>
            <a:pPr marL="685800" lvl="0" indent="-342900" algn="just"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Datasets needed:</a:t>
            </a:r>
          </a:p>
          <a:p>
            <a:pPr marL="1600200" lvl="2" indent="-342900" algn="just"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Existing: AVEC, DAIC-WOZ, E-DAIC (English).</a:t>
            </a:r>
          </a:p>
          <a:p>
            <a:pPr marL="1600200" lvl="2" indent="-342900" algn="just"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To Collect: Regional speech + emotional tone data (Kannada, Tamil, Hindi).</a:t>
            </a:r>
          </a:p>
          <a:p>
            <a:pPr marL="685800" indent="-342900" algn="just"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Incorporate deep transfer learning (Whisper, </a:t>
            </a:r>
            <a:r>
              <a:rPr lang="en-US" sz="2400" dirty="0" err="1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WavLM</a:t>
            </a: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).</a:t>
            </a:r>
          </a:p>
          <a:p>
            <a:pPr marL="685800" indent="-342900" algn="just"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Develop real-time application using </a:t>
            </a:r>
            <a:r>
              <a:rPr lang="en-US" sz="2400" dirty="0" err="1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Gradio</a:t>
            </a: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 or </a:t>
            </a:r>
            <a:r>
              <a:rPr lang="en-US" sz="2400" dirty="0" err="1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Streamlit</a:t>
            </a: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 for testing.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41" name="Google Shape;141;g3004079b4df_0_0"/>
          <p:cNvSpPr txBox="1"/>
          <p:nvPr/>
        </p:nvSpPr>
        <p:spPr>
          <a:xfrm>
            <a:off x="2895600" y="990600"/>
            <a:ext cx="78486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lvl="0" indent="-342891" algn="r"/>
            <a:r>
              <a:rPr lang="en-US" sz="2400" dirty="0">
                <a:latin typeface="Trebuchet MS"/>
                <a:sym typeface="Trebuchet MS"/>
              </a:rPr>
              <a:t>Next Phase Developments</a:t>
            </a:r>
            <a:endParaRPr dirty="0"/>
          </a:p>
        </p:txBody>
      </p:sp>
      <p:pic>
        <p:nvPicPr>
          <p:cNvPr id="142" name="Google Shape;142;g3004079b4df_0_0"/>
          <p:cNvPicPr preferRelativeResize="0"/>
          <p:nvPr/>
        </p:nvPicPr>
        <p:blipFill rotWithShape="1">
          <a:blip r:embed="rId3">
            <a:alphaModFix/>
          </a:blip>
          <a:srcRect t="4970"/>
          <a:stretch/>
        </p:blipFill>
        <p:spPr>
          <a:xfrm>
            <a:off x="10861040" y="1"/>
            <a:ext cx="1000994" cy="158115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95;p3">
            <a:extLst>
              <a:ext uri="{FF2B5EF4-FFF2-40B4-BE49-F238E27FC236}">
                <a16:creationId xmlns:a16="http://schemas.microsoft.com/office/drawing/2014/main" id="{2A85AE89-28BC-9A78-8417-F7E0E536D2BB}"/>
              </a:ext>
            </a:extLst>
          </p:cNvPr>
          <p:cNvSpPr txBox="1"/>
          <p:nvPr/>
        </p:nvSpPr>
        <p:spPr>
          <a:xfrm>
            <a:off x="329967" y="147428"/>
            <a:ext cx="38610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Detecting Depression using vocal cues</a:t>
            </a:r>
            <a:endParaRPr sz="1200" b="0" i="0" u="none" strike="noStrike" cap="none" dirty="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96;p3">
            <a:extLst>
              <a:ext uri="{FF2B5EF4-FFF2-40B4-BE49-F238E27FC236}">
                <a16:creationId xmlns:a16="http://schemas.microsoft.com/office/drawing/2014/main" id="{970CADCD-96C1-FB9E-BE6F-C086DDE8BAE2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 err="1"/>
              <a:t>Vishruthrallapalli_yuvrajrao_vivanjeevannaik_srujankumarj</a:t>
            </a: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>
          <a:extLst>
            <a:ext uri="{FF2B5EF4-FFF2-40B4-BE49-F238E27FC236}">
              <a16:creationId xmlns:a16="http://schemas.microsoft.com/office/drawing/2014/main" id="{A16E444B-33D3-C3F7-BFD9-82ED2A7BB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004079b4df_0_0">
            <a:extLst>
              <a:ext uri="{FF2B5EF4-FFF2-40B4-BE49-F238E27FC236}">
                <a16:creationId xmlns:a16="http://schemas.microsoft.com/office/drawing/2014/main" id="{9984D32C-1A99-A7A6-66F9-EFC9BADFC836}"/>
              </a:ext>
            </a:extLst>
          </p:cNvPr>
          <p:cNvSpPr/>
          <p:nvPr/>
        </p:nvSpPr>
        <p:spPr>
          <a:xfrm>
            <a:off x="3048000" y="1581155"/>
            <a:ext cx="7620000" cy="3660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3004079b4df_0_0">
            <a:extLst>
              <a:ext uri="{FF2B5EF4-FFF2-40B4-BE49-F238E27FC236}">
                <a16:creationId xmlns:a16="http://schemas.microsoft.com/office/drawing/2014/main" id="{AA241DB7-2F9A-CB3B-6E54-8E7ED1D34517}"/>
              </a:ext>
            </a:extLst>
          </p:cNvPr>
          <p:cNvSpPr txBox="1"/>
          <p:nvPr/>
        </p:nvSpPr>
        <p:spPr>
          <a:xfrm>
            <a:off x="329967" y="1654355"/>
            <a:ext cx="11429413" cy="4746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800" lvl="0" indent="-342900" algn="just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latin typeface="Trebuchet MS"/>
                <a:ea typeface="Trebuchet MS"/>
                <a:cs typeface="Trebuchet MS"/>
                <a:sym typeface="Trebuchet MS"/>
              </a:rPr>
              <a:t>Existing Data Sources:</a:t>
            </a:r>
          </a:p>
          <a:p>
            <a:pPr marL="342900" lvl="0" algn="just">
              <a:buClr>
                <a:srgbClr val="000000"/>
              </a:buClr>
              <a:buSzPts val="2400"/>
            </a:pPr>
            <a:endParaRPr lang="en-US" sz="2400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1600200" lvl="2" indent="-342900" algn="just"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DAIC-WOZ Dataset – Clinical interviews with audio, video, and transcripts for depression detection.</a:t>
            </a:r>
          </a:p>
          <a:p>
            <a:pPr marL="1600200" lvl="2" indent="-342900" algn="just"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AVEC (Audio/Visual Emotion Challenge) Dataset – Contains emotional and depression-level recordings.	</a:t>
            </a:r>
          </a:p>
          <a:p>
            <a:pPr marL="1600200" lvl="2" indent="-342900" algn="just"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RAVDESS &amp; CREMA-D – Emotional speech datasets for vocal prosody training.</a:t>
            </a:r>
          </a:p>
          <a:p>
            <a:pPr marL="1600200" lvl="2" indent="-342900" algn="just"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Kaggle FER Dataset – Facial emotion recognition dataset for multimodal integration.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141" name="Google Shape;141;g3004079b4df_0_0">
            <a:extLst>
              <a:ext uri="{FF2B5EF4-FFF2-40B4-BE49-F238E27FC236}">
                <a16:creationId xmlns:a16="http://schemas.microsoft.com/office/drawing/2014/main" id="{402E4DF6-96A2-1436-69DA-630C785C2FDC}"/>
              </a:ext>
            </a:extLst>
          </p:cNvPr>
          <p:cNvSpPr txBox="1"/>
          <p:nvPr/>
        </p:nvSpPr>
        <p:spPr>
          <a:xfrm>
            <a:off x="2895600" y="990600"/>
            <a:ext cx="78486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latin typeface="Trebuchet MS"/>
                <a:sym typeface="Trebuchet MS"/>
              </a:rPr>
              <a:t>Data Requirements</a:t>
            </a:r>
            <a:endParaRPr dirty="0"/>
          </a:p>
        </p:txBody>
      </p:sp>
      <p:pic>
        <p:nvPicPr>
          <p:cNvPr id="142" name="Google Shape;142;g3004079b4df_0_0">
            <a:extLst>
              <a:ext uri="{FF2B5EF4-FFF2-40B4-BE49-F238E27FC236}">
                <a16:creationId xmlns:a16="http://schemas.microsoft.com/office/drawing/2014/main" id="{D56C2624-C18A-F5F7-90D1-6DAE1BCE958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4970"/>
          <a:stretch/>
        </p:blipFill>
        <p:spPr>
          <a:xfrm>
            <a:off x="10861040" y="1"/>
            <a:ext cx="1000994" cy="158115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95;p3">
            <a:extLst>
              <a:ext uri="{FF2B5EF4-FFF2-40B4-BE49-F238E27FC236}">
                <a16:creationId xmlns:a16="http://schemas.microsoft.com/office/drawing/2014/main" id="{93CE15F7-6BE6-3172-A545-EE62775DF76B}"/>
              </a:ext>
            </a:extLst>
          </p:cNvPr>
          <p:cNvSpPr txBox="1"/>
          <p:nvPr/>
        </p:nvSpPr>
        <p:spPr>
          <a:xfrm>
            <a:off x="329967" y="147428"/>
            <a:ext cx="38610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Detecting Depression using vocal cues</a:t>
            </a:r>
            <a:endParaRPr sz="1200" b="0" i="0" u="none" strike="noStrike" cap="none" dirty="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96;p3">
            <a:extLst>
              <a:ext uri="{FF2B5EF4-FFF2-40B4-BE49-F238E27FC236}">
                <a16:creationId xmlns:a16="http://schemas.microsoft.com/office/drawing/2014/main" id="{84F6B5F9-14E8-7F77-F7AF-1E0077FB5EAB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 err="1"/>
              <a:t>Vishruthrallapalli_yuvrajrao_vivanjeevannaik_srujankumarj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621393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>
          <a:extLst>
            <a:ext uri="{FF2B5EF4-FFF2-40B4-BE49-F238E27FC236}">
              <a16:creationId xmlns:a16="http://schemas.microsoft.com/office/drawing/2014/main" id="{0E1634E8-2220-708C-8B0C-24A3FB34C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004079b4df_0_0">
            <a:extLst>
              <a:ext uri="{FF2B5EF4-FFF2-40B4-BE49-F238E27FC236}">
                <a16:creationId xmlns:a16="http://schemas.microsoft.com/office/drawing/2014/main" id="{6CB55BBA-CDFE-8401-2F3F-1D0025E39E35}"/>
              </a:ext>
            </a:extLst>
          </p:cNvPr>
          <p:cNvSpPr/>
          <p:nvPr/>
        </p:nvSpPr>
        <p:spPr>
          <a:xfrm>
            <a:off x="3048000" y="1581155"/>
            <a:ext cx="7620000" cy="3660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3004079b4df_0_0">
            <a:extLst>
              <a:ext uri="{FF2B5EF4-FFF2-40B4-BE49-F238E27FC236}">
                <a16:creationId xmlns:a16="http://schemas.microsoft.com/office/drawing/2014/main" id="{9BA55B54-2DC0-404A-349E-26648BD3EB02}"/>
              </a:ext>
            </a:extLst>
          </p:cNvPr>
          <p:cNvSpPr txBox="1"/>
          <p:nvPr/>
        </p:nvSpPr>
        <p:spPr>
          <a:xfrm>
            <a:off x="329967" y="1654355"/>
            <a:ext cx="11429413" cy="4746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800" lvl="0" indent="-342900" algn="just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latin typeface="Trebuchet MS"/>
                <a:ea typeface="Trebuchet MS"/>
                <a:cs typeface="Trebuchet MS"/>
                <a:sym typeface="Trebuchet MS"/>
              </a:rPr>
              <a:t>Additional Data Needed:</a:t>
            </a:r>
          </a:p>
          <a:p>
            <a:pPr marL="685800" lvl="0" indent="-342900" algn="just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endParaRPr lang="en-US" sz="2400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1600200" lvl="2" indent="-342900" algn="just"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Regional &amp; Multilingual Speech Samples (Kannada, Hindi, English mix).</a:t>
            </a:r>
          </a:p>
          <a:p>
            <a:pPr marL="1600200" lvl="2" indent="-342900" algn="just"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Locally Recorded Conversations from students, clinical volunteers, and general speakers.</a:t>
            </a:r>
          </a:p>
          <a:p>
            <a:pPr marL="1600200" lvl="2" indent="-342900" algn="just"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Unscripted Real-Life Audio for unbiased vocal emotion modeling.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141" name="Google Shape;141;g3004079b4df_0_0">
            <a:extLst>
              <a:ext uri="{FF2B5EF4-FFF2-40B4-BE49-F238E27FC236}">
                <a16:creationId xmlns:a16="http://schemas.microsoft.com/office/drawing/2014/main" id="{2472DB48-8C8E-EB15-0DCF-004B4F9C7813}"/>
              </a:ext>
            </a:extLst>
          </p:cNvPr>
          <p:cNvSpPr txBox="1"/>
          <p:nvPr/>
        </p:nvSpPr>
        <p:spPr>
          <a:xfrm>
            <a:off x="2895600" y="990600"/>
            <a:ext cx="78486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latin typeface="Trebuchet MS"/>
                <a:sym typeface="Trebuchet MS"/>
              </a:rPr>
              <a:t>Data Requirements</a:t>
            </a:r>
            <a:endParaRPr dirty="0"/>
          </a:p>
        </p:txBody>
      </p:sp>
      <p:pic>
        <p:nvPicPr>
          <p:cNvPr id="142" name="Google Shape;142;g3004079b4df_0_0">
            <a:extLst>
              <a:ext uri="{FF2B5EF4-FFF2-40B4-BE49-F238E27FC236}">
                <a16:creationId xmlns:a16="http://schemas.microsoft.com/office/drawing/2014/main" id="{41D40973-A0BB-FA20-4CC6-55F98B0873D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4970"/>
          <a:stretch/>
        </p:blipFill>
        <p:spPr>
          <a:xfrm>
            <a:off x="10861040" y="1"/>
            <a:ext cx="1000994" cy="158115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95;p3">
            <a:extLst>
              <a:ext uri="{FF2B5EF4-FFF2-40B4-BE49-F238E27FC236}">
                <a16:creationId xmlns:a16="http://schemas.microsoft.com/office/drawing/2014/main" id="{1D2CA877-8340-E17B-F87E-0BCE6121606E}"/>
              </a:ext>
            </a:extLst>
          </p:cNvPr>
          <p:cNvSpPr txBox="1"/>
          <p:nvPr/>
        </p:nvSpPr>
        <p:spPr>
          <a:xfrm>
            <a:off x="329967" y="147428"/>
            <a:ext cx="38610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Detecting Depression using vocal cues</a:t>
            </a:r>
            <a:endParaRPr sz="1200" b="0" i="0" u="none" strike="noStrike" cap="none" dirty="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96;p3">
            <a:extLst>
              <a:ext uri="{FF2B5EF4-FFF2-40B4-BE49-F238E27FC236}">
                <a16:creationId xmlns:a16="http://schemas.microsoft.com/office/drawing/2014/main" id="{1ABCCB62-3A53-77E5-B6B3-3E48B50E09C5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 err="1"/>
              <a:t>Vishruthrallapalli_yuvrajrao_vivanjeevannaik_srujankumarj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940666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>
          <a:extLst>
            <a:ext uri="{FF2B5EF4-FFF2-40B4-BE49-F238E27FC236}">
              <a16:creationId xmlns:a16="http://schemas.microsoft.com/office/drawing/2014/main" id="{7F080650-DABD-57AB-FE16-960B914D4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004079b4df_0_0">
            <a:extLst>
              <a:ext uri="{FF2B5EF4-FFF2-40B4-BE49-F238E27FC236}">
                <a16:creationId xmlns:a16="http://schemas.microsoft.com/office/drawing/2014/main" id="{0A81976D-DC67-30C6-B5BB-BEBC8079EAE6}"/>
              </a:ext>
            </a:extLst>
          </p:cNvPr>
          <p:cNvSpPr/>
          <p:nvPr/>
        </p:nvSpPr>
        <p:spPr>
          <a:xfrm>
            <a:off x="3048000" y="1581155"/>
            <a:ext cx="7620000" cy="36600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3004079b4df_0_0">
            <a:extLst>
              <a:ext uri="{FF2B5EF4-FFF2-40B4-BE49-F238E27FC236}">
                <a16:creationId xmlns:a16="http://schemas.microsoft.com/office/drawing/2014/main" id="{AA12B875-22FF-1078-31DA-D12EBF12D8C9}"/>
              </a:ext>
            </a:extLst>
          </p:cNvPr>
          <p:cNvSpPr txBox="1"/>
          <p:nvPr/>
        </p:nvSpPr>
        <p:spPr>
          <a:xfrm>
            <a:off x="329967" y="1654355"/>
            <a:ext cx="11429413" cy="4746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5800" lvl="0" indent="-342900" algn="just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latin typeface="Trebuchet MS"/>
                <a:ea typeface="Trebuchet MS"/>
                <a:cs typeface="Trebuchet MS"/>
                <a:sym typeface="Trebuchet MS"/>
              </a:rPr>
              <a:t>Data Acquisition Plan:</a:t>
            </a:r>
          </a:p>
          <a:p>
            <a:pPr marL="342900" lvl="0" algn="just">
              <a:buClr>
                <a:srgbClr val="000000"/>
              </a:buClr>
              <a:buSzPts val="2400"/>
            </a:pPr>
            <a:endParaRPr lang="en-US" sz="2400"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1600200" lvl="2" indent="-342900" algn="just"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Collect consent-based recordings from participants within college/community.</a:t>
            </a:r>
          </a:p>
          <a:p>
            <a:pPr marL="1600200" lvl="2" indent="-342900" algn="just"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Use ethical approval &amp; consent forms to ensure data privacy.	</a:t>
            </a:r>
          </a:p>
          <a:p>
            <a:pPr marL="1600200" lvl="2" indent="-342900" algn="just"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Label depression levels using standard scales (BDI-II, PHQ-9).</a:t>
            </a:r>
          </a:p>
          <a:p>
            <a:pPr marL="1600200" lvl="2" indent="-342900" algn="just"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Combine with existing datasets to create a balanced multilingual corpus for model training.</a:t>
            </a:r>
            <a:endParaRPr lang="en-US" sz="2400" dirty="0">
              <a:solidFill>
                <a:schemeClr val="accent1"/>
              </a:solidFill>
            </a:endParaRPr>
          </a:p>
        </p:txBody>
      </p:sp>
      <p:sp>
        <p:nvSpPr>
          <p:cNvPr id="141" name="Google Shape;141;g3004079b4df_0_0">
            <a:extLst>
              <a:ext uri="{FF2B5EF4-FFF2-40B4-BE49-F238E27FC236}">
                <a16:creationId xmlns:a16="http://schemas.microsoft.com/office/drawing/2014/main" id="{8B887922-6C18-600F-2A60-A87EF9DD61A8}"/>
              </a:ext>
            </a:extLst>
          </p:cNvPr>
          <p:cNvSpPr txBox="1"/>
          <p:nvPr/>
        </p:nvSpPr>
        <p:spPr>
          <a:xfrm>
            <a:off x="2895600" y="990600"/>
            <a:ext cx="78486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latin typeface="Trebuchet MS"/>
                <a:sym typeface="Trebuchet MS"/>
              </a:rPr>
              <a:t>Data Requirements</a:t>
            </a:r>
            <a:endParaRPr dirty="0"/>
          </a:p>
        </p:txBody>
      </p:sp>
      <p:pic>
        <p:nvPicPr>
          <p:cNvPr id="142" name="Google Shape;142;g3004079b4df_0_0">
            <a:extLst>
              <a:ext uri="{FF2B5EF4-FFF2-40B4-BE49-F238E27FC236}">
                <a16:creationId xmlns:a16="http://schemas.microsoft.com/office/drawing/2014/main" id="{23C1375A-CB75-0497-669A-3521CDEB7DF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4970"/>
          <a:stretch/>
        </p:blipFill>
        <p:spPr>
          <a:xfrm>
            <a:off x="10861040" y="1"/>
            <a:ext cx="1000994" cy="158115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95;p3">
            <a:extLst>
              <a:ext uri="{FF2B5EF4-FFF2-40B4-BE49-F238E27FC236}">
                <a16:creationId xmlns:a16="http://schemas.microsoft.com/office/drawing/2014/main" id="{A1DD61A6-2CD7-64A9-5556-724CC404F476}"/>
              </a:ext>
            </a:extLst>
          </p:cNvPr>
          <p:cNvSpPr txBox="1"/>
          <p:nvPr/>
        </p:nvSpPr>
        <p:spPr>
          <a:xfrm>
            <a:off x="329967" y="147428"/>
            <a:ext cx="38610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Detecting Depression using vocal cues</a:t>
            </a:r>
            <a:endParaRPr sz="1200" b="0" i="0" u="none" strike="noStrike" cap="none" dirty="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96;p3">
            <a:extLst>
              <a:ext uri="{FF2B5EF4-FFF2-40B4-BE49-F238E27FC236}">
                <a16:creationId xmlns:a16="http://schemas.microsoft.com/office/drawing/2014/main" id="{29F0EDAA-74D6-8D87-17B6-5B20E3487BB7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 err="1"/>
              <a:t>Vishruthrallapalli_yuvrajrao_vivanjeevannaik_srujankumarj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75234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05FEF2B-BD42-72F7-D426-DEDC58B81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>
            <a:extLst>
              <a:ext uri="{FF2B5EF4-FFF2-40B4-BE49-F238E27FC236}">
                <a16:creationId xmlns:a16="http://schemas.microsoft.com/office/drawing/2014/main" id="{4366C145-6862-EF5B-A1D1-DB6B320E7955}"/>
              </a:ext>
            </a:extLst>
          </p:cNvPr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9">
            <a:extLst>
              <a:ext uri="{FF2B5EF4-FFF2-40B4-BE49-F238E27FC236}">
                <a16:creationId xmlns:a16="http://schemas.microsoft.com/office/drawing/2014/main" id="{BFE3348A-29BC-8B31-C683-7791EC25DB15}"/>
              </a:ext>
            </a:extLst>
          </p:cNvPr>
          <p:cNvSpPr txBox="1"/>
          <p:nvPr/>
        </p:nvSpPr>
        <p:spPr>
          <a:xfrm>
            <a:off x="2895600" y="1143002"/>
            <a:ext cx="77724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latin typeface="Trebuchet MS"/>
                <a:ea typeface="Trebuchet MS"/>
                <a:cs typeface="Trebuchet MS"/>
                <a:sym typeface="Trebuchet MS"/>
              </a:rPr>
              <a:t>Capstone (Phase-I &amp; Phase-II) Project Timeline</a:t>
            </a:r>
            <a:endParaRPr/>
          </a:p>
        </p:txBody>
      </p:sp>
      <p:sp>
        <p:nvSpPr>
          <p:cNvPr id="151" name="Google Shape;151;p29">
            <a:extLst>
              <a:ext uri="{FF2B5EF4-FFF2-40B4-BE49-F238E27FC236}">
                <a16:creationId xmlns:a16="http://schemas.microsoft.com/office/drawing/2014/main" id="{71897042-5A9F-020C-D007-FAE02318FBD7}"/>
              </a:ext>
            </a:extLst>
          </p:cNvPr>
          <p:cNvSpPr txBox="1"/>
          <p:nvPr/>
        </p:nvSpPr>
        <p:spPr>
          <a:xfrm>
            <a:off x="329966" y="1655554"/>
            <a:ext cx="11532067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lvl="0" indent="12700" algn="just"/>
            <a:r>
              <a:rPr lang="en-US" sz="2400" dirty="0">
                <a:latin typeface="Trebuchet MS"/>
                <a:ea typeface="Trebuchet MS"/>
                <a:cs typeface="Trebuchet MS"/>
                <a:sym typeface="Trebuchet MS"/>
              </a:rPr>
              <a:t>Phase 1: Aug – Dec 2025</a:t>
            </a:r>
          </a:p>
          <a:p>
            <a:pPr marL="685800" lvl="0" indent="-342900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Conduct detailed literature review to identify research gaps and methodologies.</a:t>
            </a:r>
          </a:p>
          <a:p>
            <a:pPr marL="685800" lvl="0" indent="-342900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Define objectives, scope, and feasibility for multilingual depression detection.</a:t>
            </a:r>
          </a:p>
          <a:p>
            <a:pPr marL="685800" lvl="0" indent="-342900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Plan for dataset acquisition, including permissions and ethical considerations.</a:t>
            </a:r>
          </a:p>
          <a:p>
            <a:pPr marL="685800" lvl="0" indent="-342900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Begin data collection for vocal and facial features (preliminary dataset).</a:t>
            </a:r>
          </a:p>
          <a:p>
            <a:pPr marL="685800" lvl="0" indent="-342900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Data preprocessing and labeling: clean audio, extract vocal features, annotate facial expressions.</a:t>
            </a:r>
          </a:p>
          <a:p>
            <a:pPr marL="685800" lvl="0" indent="-342900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Initial ML model development using speech-based features.</a:t>
            </a:r>
          </a:p>
          <a:p>
            <a:pPr marL="685800" lvl="0" indent="-342900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Conduct preliminary evaluation to identify strengths and limitations</a:t>
            </a:r>
            <a:r>
              <a:rPr lang="en-US" sz="22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 lang="en-US" sz="2000" b="0" i="0" u="none" strike="noStrike" cap="none" dirty="0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52" name="Google Shape;152;p29">
            <a:extLst>
              <a:ext uri="{FF2B5EF4-FFF2-40B4-BE49-F238E27FC236}">
                <a16:creationId xmlns:a16="http://schemas.microsoft.com/office/drawing/2014/main" id="{C5E80836-7520-CD44-DE78-F2CAA3D1DB1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4970"/>
          <a:stretch/>
        </p:blipFill>
        <p:spPr>
          <a:xfrm>
            <a:off x="10580722" y="1"/>
            <a:ext cx="1281312" cy="156035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95;p3">
            <a:extLst>
              <a:ext uri="{FF2B5EF4-FFF2-40B4-BE49-F238E27FC236}">
                <a16:creationId xmlns:a16="http://schemas.microsoft.com/office/drawing/2014/main" id="{6FD5A2F4-7993-3A39-173F-1569A5B0A2BA}"/>
              </a:ext>
            </a:extLst>
          </p:cNvPr>
          <p:cNvSpPr txBox="1"/>
          <p:nvPr/>
        </p:nvSpPr>
        <p:spPr>
          <a:xfrm>
            <a:off x="329967" y="147428"/>
            <a:ext cx="38610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Detecting Depression using vocal cues</a:t>
            </a:r>
            <a:endParaRPr sz="1200" b="0" i="0" u="none" strike="noStrike" cap="none" dirty="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96;p3">
            <a:extLst>
              <a:ext uri="{FF2B5EF4-FFF2-40B4-BE49-F238E27FC236}">
                <a16:creationId xmlns:a16="http://schemas.microsoft.com/office/drawing/2014/main" id="{D530AE6F-C3B8-CFD4-7CA2-59F30F01C1FC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 err="1"/>
              <a:t>Vishruthrallapalli_yuvrajrao_vivanjeevannaik_srujankumarj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335793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E2417132-C4E8-71F0-B900-94D8F1A54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>
            <a:extLst>
              <a:ext uri="{FF2B5EF4-FFF2-40B4-BE49-F238E27FC236}">
                <a16:creationId xmlns:a16="http://schemas.microsoft.com/office/drawing/2014/main" id="{347FB93F-1C8F-16F9-EA71-3BEA5E688145}"/>
              </a:ext>
            </a:extLst>
          </p:cNvPr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9">
            <a:extLst>
              <a:ext uri="{FF2B5EF4-FFF2-40B4-BE49-F238E27FC236}">
                <a16:creationId xmlns:a16="http://schemas.microsoft.com/office/drawing/2014/main" id="{D57C08CF-56B4-6178-592A-CFDD06061876}"/>
              </a:ext>
            </a:extLst>
          </p:cNvPr>
          <p:cNvSpPr txBox="1"/>
          <p:nvPr/>
        </p:nvSpPr>
        <p:spPr>
          <a:xfrm>
            <a:off x="2895600" y="1143002"/>
            <a:ext cx="77724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latin typeface="Trebuchet MS"/>
                <a:ea typeface="Trebuchet MS"/>
                <a:cs typeface="Trebuchet MS"/>
                <a:sym typeface="Trebuchet MS"/>
              </a:rPr>
              <a:t>Capstone (Phase-I &amp; Phase-II) Project Timeline</a:t>
            </a:r>
            <a:endParaRPr/>
          </a:p>
        </p:txBody>
      </p:sp>
      <p:sp>
        <p:nvSpPr>
          <p:cNvPr id="151" name="Google Shape;151;p29">
            <a:extLst>
              <a:ext uri="{FF2B5EF4-FFF2-40B4-BE49-F238E27FC236}">
                <a16:creationId xmlns:a16="http://schemas.microsoft.com/office/drawing/2014/main" id="{86833E80-9921-33B9-08AC-564D2C1672A8}"/>
              </a:ext>
            </a:extLst>
          </p:cNvPr>
          <p:cNvSpPr txBox="1"/>
          <p:nvPr/>
        </p:nvSpPr>
        <p:spPr>
          <a:xfrm>
            <a:off x="329966" y="1655554"/>
            <a:ext cx="11532067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lvl="0" indent="12700" algn="just"/>
            <a:r>
              <a:rPr lang="en-US" sz="2400" dirty="0">
                <a:latin typeface="Trebuchet MS"/>
                <a:ea typeface="Trebuchet MS"/>
                <a:cs typeface="Trebuchet MS"/>
                <a:sym typeface="Trebuchet MS"/>
              </a:rPr>
              <a:t>Phase 2: Jan – May 2026</a:t>
            </a:r>
          </a:p>
          <a:p>
            <a:pPr marL="685800" lvl="0" indent="-342900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Integrate multimodal features: combine vocal cues with facial action units.</a:t>
            </a:r>
          </a:p>
          <a:p>
            <a:pPr marL="685800" lvl="0" indent="-342900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Model refinement: hyperparameter tuning, feature selection, improving accuracy.</a:t>
            </a:r>
          </a:p>
          <a:p>
            <a:pPr marL="685800" lvl="0" indent="-342900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Multilingual testing and validation to ensure regional adaptability.</a:t>
            </a:r>
          </a:p>
          <a:p>
            <a:pPr marL="685800" lvl="0" indent="-342900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Comprehensive result analysis: compare models, evaluate metrics, and optimize performance.</a:t>
            </a:r>
          </a:p>
          <a:p>
            <a:pPr marL="685800" lvl="0" indent="-342900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Prepare documentation and report for Phase 1 &amp; 2 deliverables.</a:t>
            </a:r>
            <a:endParaRPr lang="en-US" sz="2000" b="0" i="0" u="none" strike="noStrike" cap="none" dirty="0">
              <a:solidFill>
                <a:schemeClr val="accen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52" name="Google Shape;152;p29">
            <a:extLst>
              <a:ext uri="{FF2B5EF4-FFF2-40B4-BE49-F238E27FC236}">
                <a16:creationId xmlns:a16="http://schemas.microsoft.com/office/drawing/2014/main" id="{D4594582-DC82-D22D-1961-AFFFC5D9960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4970"/>
          <a:stretch/>
        </p:blipFill>
        <p:spPr>
          <a:xfrm>
            <a:off x="10580722" y="1"/>
            <a:ext cx="1281312" cy="156035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95;p3">
            <a:extLst>
              <a:ext uri="{FF2B5EF4-FFF2-40B4-BE49-F238E27FC236}">
                <a16:creationId xmlns:a16="http://schemas.microsoft.com/office/drawing/2014/main" id="{4726C008-59CB-08E7-F7A7-85863475B548}"/>
              </a:ext>
            </a:extLst>
          </p:cNvPr>
          <p:cNvSpPr txBox="1"/>
          <p:nvPr/>
        </p:nvSpPr>
        <p:spPr>
          <a:xfrm>
            <a:off x="329967" y="147428"/>
            <a:ext cx="38610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Detecting Depression using vocal cues</a:t>
            </a:r>
            <a:endParaRPr sz="1200" b="0" i="0" u="none" strike="noStrike" cap="none" dirty="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96;p3">
            <a:extLst>
              <a:ext uri="{FF2B5EF4-FFF2-40B4-BE49-F238E27FC236}">
                <a16:creationId xmlns:a16="http://schemas.microsoft.com/office/drawing/2014/main" id="{F440B662-224D-BBD0-459F-76A90725BE85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 err="1"/>
              <a:t>Vishruthrallapalli_yuvrajrao_vivanjeevannaik_srujankumarj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172260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B67A6E9-CBFE-4050-0A13-604664EAB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>
            <a:extLst>
              <a:ext uri="{FF2B5EF4-FFF2-40B4-BE49-F238E27FC236}">
                <a16:creationId xmlns:a16="http://schemas.microsoft.com/office/drawing/2014/main" id="{05B43DDD-7B10-FAEA-6389-F068101CB2E1}"/>
              </a:ext>
            </a:extLst>
          </p:cNvPr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9">
            <a:extLst>
              <a:ext uri="{FF2B5EF4-FFF2-40B4-BE49-F238E27FC236}">
                <a16:creationId xmlns:a16="http://schemas.microsoft.com/office/drawing/2014/main" id="{F8ED2489-7157-80F8-D48D-57D7C9ACFA55}"/>
              </a:ext>
            </a:extLst>
          </p:cNvPr>
          <p:cNvSpPr txBox="1"/>
          <p:nvPr/>
        </p:nvSpPr>
        <p:spPr>
          <a:xfrm>
            <a:off x="2895600" y="1143002"/>
            <a:ext cx="77724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latin typeface="Trebuchet MS"/>
                <a:ea typeface="Trebuchet MS"/>
                <a:cs typeface="Trebuchet MS"/>
                <a:sym typeface="Trebuchet MS"/>
              </a:rPr>
              <a:t>Capstone (Phase-I &amp; Phase-II) Project Timeline</a:t>
            </a:r>
            <a:endParaRPr dirty="0"/>
          </a:p>
        </p:txBody>
      </p:sp>
      <p:pic>
        <p:nvPicPr>
          <p:cNvPr id="152" name="Google Shape;152;p29">
            <a:extLst>
              <a:ext uri="{FF2B5EF4-FFF2-40B4-BE49-F238E27FC236}">
                <a16:creationId xmlns:a16="http://schemas.microsoft.com/office/drawing/2014/main" id="{25B01961-2CD0-AB06-08EF-89476CD2F16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4970"/>
          <a:stretch/>
        </p:blipFill>
        <p:spPr>
          <a:xfrm>
            <a:off x="10580722" y="1"/>
            <a:ext cx="1281312" cy="156035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95;p3">
            <a:extLst>
              <a:ext uri="{FF2B5EF4-FFF2-40B4-BE49-F238E27FC236}">
                <a16:creationId xmlns:a16="http://schemas.microsoft.com/office/drawing/2014/main" id="{E5CBB5CA-BCE8-0D02-248F-DE232ADC2E75}"/>
              </a:ext>
            </a:extLst>
          </p:cNvPr>
          <p:cNvSpPr txBox="1"/>
          <p:nvPr/>
        </p:nvSpPr>
        <p:spPr>
          <a:xfrm>
            <a:off x="329967" y="147428"/>
            <a:ext cx="38610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Detecting Depression using vocal cues</a:t>
            </a:r>
            <a:endParaRPr sz="1200" b="0" i="0" u="none" strike="noStrike" cap="none" dirty="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6C2C02-3DCC-46AE-593C-7FFD4D4D8A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0483" y="1889409"/>
            <a:ext cx="7772400" cy="4298634"/>
          </a:xfrm>
          <a:prstGeom prst="rect">
            <a:avLst/>
          </a:prstGeom>
        </p:spPr>
      </p:pic>
      <p:sp>
        <p:nvSpPr>
          <p:cNvPr id="6" name="Google Shape;96;p3">
            <a:extLst>
              <a:ext uri="{FF2B5EF4-FFF2-40B4-BE49-F238E27FC236}">
                <a16:creationId xmlns:a16="http://schemas.microsoft.com/office/drawing/2014/main" id="{BCCE8D24-EE48-018E-864C-3A3E3FF45D5C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 err="1"/>
              <a:t>Vishruthrallapalli_yuvrajrao_vivanjeevannaik_srujankumarj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773774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0E10D03E-1E5D-7DA3-459F-87DD3DC16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>
            <a:extLst>
              <a:ext uri="{FF2B5EF4-FFF2-40B4-BE49-F238E27FC236}">
                <a16:creationId xmlns:a16="http://schemas.microsoft.com/office/drawing/2014/main" id="{F056F341-5DF2-AA2E-21D9-9FFFAEDE5702}"/>
              </a:ext>
            </a:extLst>
          </p:cNvPr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9">
            <a:extLst>
              <a:ext uri="{FF2B5EF4-FFF2-40B4-BE49-F238E27FC236}">
                <a16:creationId xmlns:a16="http://schemas.microsoft.com/office/drawing/2014/main" id="{1B271788-8255-FD48-F1C7-AEF8C8C71C07}"/>
              </a:ext>
            </a:extLst>
          </p:cNvPr>
          <p:cNvSpPr txBox="1"/>
          <p:nvPr/>
        </p:nvSpPr>
        <p:spPr>
          <a:xfrm>
            <a:off x="2895600" y="1143002"/>
            <a:ext cx="77724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latin typeface="Trebuchet MS"/>
                <a:ea typeface="Trebuchet MS"/>
                <a:cs typeface="Trebuchet MS"/>
                <a:sym typeface="Trebuchet MS"/>
              </a:rPr>
              <a:t>Capstone (Phase-I &amp; Phase-II) Project Timeline</a:t>
            </a:r>
            <a:endParaRPr/>
          </a:p>
        </p:txBody>
      </p:sp>
      <p:pic>
        <p:nvPicPr>
          <p:cNvPr id="152" name="Google Shape;152;p29">
            <a:extLst>
              <a:ext uri="{FF2B5EF4-FFF2-40B4-BE49-F238E27FC236}">
                <a16:creationId xmlns:a16="http://schemas.microsoft.com/office/drawing/2014/main" id="{0EC2DD47-643D-5C48-E966-40884F08A2C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4970"/>
          <a:stretch/>
        </p:blipFill>
        <p:spPr>
          <a:xfrm>
            <a:off x="10580722" y="1"/>
            <a:ext cx="1281312" cy="1560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9">
            <a:extLst>
              <a:ext uri="{FF2B5EF4-FFF2-40B4-BE49-F238E27FC236}">
                <a16:creationId xmlns:a16="http://schemas.microsoft.com/office/drawing/2014/main" id="{3621B784-EBDF-34E0-8460-0EE61942C028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name1_name2_name3_name4</a:t>
            </a:r>
            <a:endParaRPr/>
          </a:p>
        </p:txBody>
      </p:sp>
      <p:sp>
        <p:nvSpPr>
          <p:cNvPr id="2" name="Google Shape;95;p3">
            <a:extLst>
              <a:ext uri="{FF2B5EF4-FFF2-40B4-BE49-F238E27FC236}">
                <a16:creationId xmlns:a16="http://schemas.microsoft.com/office/drawing/2014/main" id="{ECD05E63-C8AC-704A-4970-BC4304AC74CB}"/>
              </a:ext>
            </a:extLst>
          </p:cNvPr>
          <p:cNvSpPr txBox="1"/>
          <p:nvPr/>
        </p:nvSpPr>
        <p:spPr>
          <a:xfrm>
            <a:off x="329967" y="147428"/>
            <a:ext cx="38610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Detecting Depression using vocal cues</a:t>
            </a:r>
            <a:endParaRPr sz="1200" b="0" i="0" u="none" strike="noStrike" cap="none" dirty="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9AF444-B0A1-7A2E-8C1D-20F6D96C1D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0483" y="1876409"/>
            <a:ext cx="7772400" cy="4298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0871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"/>
          <p:cNvSpPr/>
          <p:nvPr/>
        </p:nvSpPr>
        <p:spPr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30"/>
          <p:cNvSpPr txBox="1"/>
          <p:nvPr/>
        </p:nvSpPr>
        <p:spPr>
          <a:xfrm>
            <a:off x="2895600" y="1143002"/>
            <a:ext cx="777240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891" marR="0" lvl="0" indent="-34289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latin typeface="Trebuchet MS"/>
                <a:sym typeface="Trebuchet MS"/>
              </a:rPr>
              <a:t>References</a:t>
            </a:r>
            <a:endParaRPr dirty="0"/>
          </a:p>
        </p:txBody>
      </p:sp>
      <p:sp>
        <p:nvSpPr>
          <p:cNvPr id="161" name="Google Shape;161;p30"/>
          <p:cNvSpPr txBox="1"/>
          <p:nvPr/>
        </p:nvSpPr>
        <p:spPr>
          <a:xfrm>
            <a:off x="329967" y="1905001"/>
            <a:ext cx="10849310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685791" lvl="0" indent="-342900" algn="just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Ying Yang, Catherine Fairbairn, Jeffrey F. Cohn – Detecting Depression Severity from Vocal Prosody, 2013, University of Pittsburgh	</a:t>
            </a:r>
          </a:p>
          <a:p>
            <a:pPr marL="685791" lvl="0" indent="-342900" algn="just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Ms. Swati </a:t>
            </a:r>
            <a:r>
              <a:rPr lang="en-US" sz="2400" dirty="0" err="1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Suryawanshi</a:t>
            </a: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, Mrs. Roomana Hasan, Mr. Kantilal Chandre – AI-Enhanced Emotional Assessment: Detecting Depression Levels through Visual and Vocal Expressions, 2024, IJIRT</a:t>
            </a:r>
          </a:p>
          <a:p>
            <a:pPr marL="685791" lvl="0" indent="-342900" algn="just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Jeffrey M. Girard, Jeffrey F. Cohn, Mohammad H. Mahoor, Seyed Mohammad </a:t>
            </a:r>
            <a:r>
              <a:rPr lang="en-US" sz="2400" dirty="0" err="1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Mavadati</a:t>
            </a: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, Dean P. Rosenwald – Social risk and depression: Evidence from manual and automatic facial expression analysis, 2013, IEEE &amp; University of Pittsburgh</a:t>
            </a:r>
          </a:p>
          <a:p>
            <a:pPr marL="685791" lvl="0" indent="-342900" algn="just"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Cynthia Solomon, Michel F. </a:t>
            </a:r>
            <a:r>
              <a:rPr lang="en-US" sz="2400" dirty="0" err="1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Valstar</a:t>
            </a:r>
            <a:r>
              <a:rPr lang="en-US" sz="2400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, Richard K. Morriss, John Crowe – Automatic Emotional Facial Expression in Non-Psychotic Disorders: A Systematic Review and Meta-analysis, 2016, University of Nottingham</a:t>
            </a:r>
            <a:endParaRPr dirty="0">
              <a:solidFill>
                <a:schemeClr val="accent1"/>
              </a:solidFill>
            </a:endParaRPr>
          </a:p>
        </p:txBody>
      </p:sp>
      <p:pic>
        <p:nvPicPr>
          <p:cNvPr id="162" name="Google Shape;162;p30"/>
          <p:cNvPicPr preferRelativeResize="0"/>
          <p:nvPr/>
        </p:nvPicPr>
        <p:blipFill rotWithShape="1">
          <a:blip r:embed="rId3">
            <a:alphaModFix/>
          </a:blip>
          <a:srcRect t="4970"/>
          <a:stretch/>
        </p:blipFill>
        <p:spPr>
          <a:xfrm>
            <a:off x="10580722" y="1"/>
            <a:ext cx="1281312" cy="156035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95;p3">
            <a:extLst>
              <a:ext uri="{FF2B5EF4-FFF2-40B4-BE49-F238E27FC236}">
                <a16:creationId xmlns:a16="http://schemas.microsoft.com/office/drawing/2014/main" id="{0C872008-C70B-A76E-4899-2E1272365F2F}"/>
              </a:ext>
            </a:extLst>
          </p:cNvPr>
          <p:cNvSpPr txBox="1"/>
          <p:nvPr/>
        </p:nvSpPr>
        <p:spPr>
          <a:xfrm>
            <a:off x="329967" y="147428"/>
            <a:ext cx="38610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Detecting Depression using vocal cues</a:t>
            </a:r>
            <a:endParaRPr sz="1200" b="0" i="0" u="none" strike="noStrike" cap="none" dirty="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96;p3">
            <a:extLst>
              <a:ext uri="{FF2B5EF4-FFF2-40B4-BE49-F238E27FC236}">
                <a16:creationId xmlns:a16="http://schemas.microsoft.com/office/drawing/2014/main" id="{12FB9702-73B0-6074-A5FD-7A762CBE1A08}"/>
              </a:ext>
            </a:extLst>
          </p:cNvPr>
          <p:cNvSpPr txBox="1"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 err="1"/>
              <a:t>Vishruthrallapalli_yuvrajrao_vivanjeevannaik_srujankumarj</a:t>
            </a:r>
            <a:endParaRPr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1"/>
          <p:cNvSpPr/>
          <p:nvPr/>
        </p:nvSpPr>
        <p:spPr>
          <a:xfrm>
            <a:off x="4066685" y="2767300"/>
            <a:ext cx="2506584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 dirty="0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rPr>
              <a:t>THANK YOU</a:t>
            </a:r>
            <a:endParaRPr dirty="0">
              <a:solidFill>
                <a:schemeClr val="accent1"/>
              </a:solidFill>
            </a:endParaRPr>
          </a:p>
        </p:txBody>
      </p:sp>
      <p:pic>
        <p:nvPicPr>
          <p:cNvPr id="170" name="Google Shape;170;p31"/>
          <p:cNvPicPr preferRelativeResize="0"/>
          <p:nvPr/>
        </p:nvPicPr>
        <p:blipFill rotWithShape="1">
          <a:blip r:embed="rId3">
            <a:alphaModFix/>
          </a:blip>
          <a:srcRect t="4970"/>
          <a:stretch/>
        </p:blipFill>
        <p:spPr>
          <a:xfrm>
            <a:off x="10580722" y="1"/>
            <a:ext cx="1281312" cy="15603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156</TotalTime>
  <Words>2349</Words>
  <Application>Microsoft Office PowerPoint</Application>
  <PresentationFormat>Widescreen</PresentationFormat>
  <Paragraphs>310</Paragraphs>
  <Slides>30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Calibri Light</vt:lpstr>
      <vt:lpstr>Trebuchet MS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SINDHU</dc:creator>
  <cp:lastModifiedBy>Srujan J</cp:lastModifiedBy>
  <cp:revision>7</cp:revision>
  <dcterms:created xsi:type="dcterms:W3CDTF">2020-06-03T14:19:11Z</dcterms:created>
  <dcterms:modified xsi:type="dcterms:W3CDTF">2025-10-08T16:43:17Z</dcterms:modified>
</cp:coreProperties>
</file>